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4d3aec0bb04766" /><Relationship Type="http://schemas.openxmlformats.org/officeDocument/2006/relationships/extended-properties" Target="/docProps/app.xml" Id="R04077123b44e44bc" /><Relationship Type="http://schemas.openxmlformats.org/officeDocument/2006/relationships/officeDocument" Target="/ppt/presentation.xml" Id="R8ae57802580143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df0661e4a84e96"/>
  </p:sldMasterIdLst>
  <p:notesMasterIdLst>
    <p:notesMasterId xmlns:r="http://schemas.openxmlformats.org/officeDocument/2006/relationships" r:id="R0e4535fe54ea4e60"/>
  </p:notesMasterIdLst>
  <p:sldIdLst>
    <p:sldId xmlns:r="http://schemas.openxmlformats.org/officeDocument/2006/relationships" id="256" r:id="Ra445f9ec873d4abd"/>
    <p:sldId xmlns:r="http://schemas.openxmlformats.org/officeDocument/2006/relationships" id="257" r:id="R3763b9713b4545f7"/>
    <p:sldId xmlns:r="http://schemas.openxmlformats.org/officeDocument/2006/relationships" id="258" r:id="R3a87795656c34c0b"/>
    <p:sldId xmlns:r="http://schemas.openxmlformats.org/officeDocument/2006/relationships" id="259" r:id="R5e3db02d7bd74552"/>
    <p:sldId xmlns:r="http://schemas.openxmlformats.org/officeDocument/2006/relationships" id="260" r:id="Rcebd51a2323f4a7a"/>
    <p:sldId xmlns:r="http://schemas.openxmlformats.org/officeDocument/2006/relationships" id="261" r:id="R2ad2a5d8be784dd9"/>
    <p:sldId xmlns:r="http://schemas.openxmlformats.org/officeDocument/2006/relationships" id="262" r:id="R8671f8c295b1414b"/>
    <p:sldId xmlns:r="http://schemas.openxmlformats.org/officeDocument/2006/relationships" id="263" r:id="R8c875efbca26457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ae9f6bc45545b5" /><Relationship Type="http://schemas.openxmlformats.org/officeDocument/2006/relationships/slideMaster" Target="/ppt/slideMasters/slideMaster1.xml" Id="R8adf0661e4a84e96" /><Relationship Type="http://schemas.openxmlformats.org/officeDocument/2006/relationships/notesMaster" Target="/ppt/notesMasters/notesMaster1.xml" Id="R0e4535fe54ea4e60" /><Relationship Type="http://schemas.openxmlformats.org/officeDocument/2006/relationships/presProps" Target="/ppt/presProps.xml" Id="R700f5f7e6335428b" /><Relationship Type="http://schemas.openxmlformats.org/officeDocument/2006/relationships/tableStyles" Target="/ppt/tableStyles.xml" Id="Rbc5c53dad2c34c02" /><Relationship Type="http://schemas.openxmlformats.org/officeDocument/2006/relationships/slide" Target="/ppt/slides/slide1.xml" Id="Ra445f9ec873d4abd" /><Relationship Type="http://schemas.openxmlformats.org/officeDocument/2006/relationships/slide" Target="/ppt/slides/slide2.xml" Id="R3763b9713b4545f7" /><Relationship Type="http://schemas.openxmlformats.org/officeDocument/2006/relationships/slide" Target="/ppt/slides/slide3.xml" Id="R3a87795656c34c0b" /><Relationship Type="http://schemas.openxmlformats.org/officeDocument/2006/relationships/slide" Target="/ppt/slides/slide4.xml" Id="R5e3db02d7bd74552" /><Relationship Type="http://schemas.openxmlformats.org/officeDocument/2006/relationships/slide" Target="/ppt/slides/slide5.xml" Id="Rcebd51a2323f4a7a" /><Relationship Type="http://schemas.openxmlformats.org/officeDocument/2006/relationships/slide" Target="/ppt/slides/slide6.xml" Id="R2ad2a5d8be784dd9" /><Relationship Type="http://schemas.openxmlformats.org/officeDocument/2006/relationships/slide" Target="/ppt/slides/slide7.xml" Id="R8671f8c295b1414b" /><Relationship Type="http://schemas.openxmlformats.org/officeDocument/2006/relationships/slide" Target="/ppt/slides/slide8.xml" Id="R8c875efbca2645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f84d62175748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50d8ca08c84924" /><Relationship Type="http://schemas.openxmlformats.org/officeDocument/2006/relationships/notesMaster" Target="/ppt/notesMasters/notesMaster1.xml" Id="R80faacd6f73546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8498d1adbd4cbc" /><Relationship Type="http://schemas.openxmlformats.org/officeDocument/2006/relationships/notesMaster" Target="/ppt/notesMasters/notesMaster1.xml" Id="Rfad5b293a66742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efa1191860466d" /><Relationship Type="http://schemas.openxmlformats.org/officeDocument/2006/relationships/notesMaster" Target="/ppt/notesMasters/notesMaster1.xml" Id="R600da4b73aba4cb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e3c7c3f1974d92" /><Relationship Type="http://schemas.openxmlformats.org/officeDocument/2006/relationships/notesMaster" Target="/ppt/notesMasters/notesMaster1.xml" Id="R8b6ec44b049d403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4d871330154465" /><Relationship Type="http://schemas.openxmlformats.org/officeDocument/2006/relationships/notesMaster" Target="/ppt/notesMasters/notesMaster1.xml" Id="R4e2cd7d028fe48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83f62166804f44" /><Relationship Type="http://schemas.openxmlformats.org/officeDocument/2006/relationships/notesMaster" Target="/ppt/notesMasters/notesMaster1.xml" Id="R06be9ac29ebd4c0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a00937bedd4418" /><Relationship Type="http://schemas.openxmlformats.org/officeDocument/2006/relationships/notesMaster" Target="/ppt/notesMasters/notesMaster1.xml" Id="Rfe2b891246f74f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c1350ccbd344be5" /><Relationship Type="http://schemas.openxmlformats.org/officeDocument/2006/relationships/notesMaster" Target="/ppt/notesMasters/notesMaster1.xml" Id="R9fad28fd568a47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sources/Proyecto Final (migracion Cloud).pptx (template visual)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docs/security.md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outputs/arquitectura-sap-erp-slt-aws-consumo-v2.png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docs/sizing.md</a:t>
            </a:r>
          </a:p>
          <a:p xmlns:a="http://schemas.openxmlformats.org/drawingml/2006/main">
            <a:r>
              <a:t>- docs/security.md</a:t>
            </a:r>
          </a:p>
          <a:p xmlns:a="http://schemas.openxmlformats.org/drawingml/2006/main">
            <a:r>
              <a:t>- AWS AppFlow and RDS official documentation linked in those files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docs/migration-plan.md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docs/cost-estimate.md</a:t>
            </a:r>
          </a:p>
          <a:p xmlns:a="http://schemas.openxmlformats.org/drawingml/2006/main">
            <a:r>
              <a:t>- costs/aws-us-east-1.json</a:t>
            </a:r>
          </a:p>
          <a:p xmlns:a="http://schemas.openxmlformats.org/drawingml/2006/main">
            <a:r>
              <a:t>- https://calculator.aws/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scripts/check.sh</a:t>
            </a:r>
          </a:p>
          <a:p xmlns:a="http://schemas.openxmlformats.org/drawingml/2006/main">
            <a:r>
              <a:t>- tests/</a:t>
            </a:r>
          </a:p>
          <a:p xmlns:a="http://schemas.openxmlformats.org/drawingml/2006/main">
            <a:r>
              <a:t>- iac/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fab29c7d15462d" /></Relationships>
</file>

<file path=ppt/slideLayouts/slideLayout1.xml><?xml version="1.0" encoding="utf-8"?>
<p:sldLayout xmlns:p="http://schemas.openxmlformats.org/presentationml/2006/main" showMasterSp="1" showMasterPhAnim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CC315BE-5C81-4A5A-BEC1-8B083C16B113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1813365e3d411e" /><Relationship Type="http://schemas.openxmlformats.org/officeDocument/2006/relationships/slideLayout" Target="/ppt/slideLayouts/slideLayout1.xml" Id="R0cb5777abc3f4fb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Text">
            <a:extLst xmlns:a="http://schemas.openxmlformats.org/drawingml/2006/main">
              <a:ext uri="{FF2B5EF4-FFF2-40B4-BE49-F238E27FC236}">
                <a16:creationId xmlns:a16="http://schemas.microsoft.com/office/drawing/2014/main" id="{479A625D-DCA6-433D-A722-9274152F6B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92074"/>
            <a:ext cx="10972800" cy="150812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>
              <a:buNone/>
            </a:pPr>
            <a:r>
              <a:t>Title Text</a:t>
            </a:r>
          </a:p>
        </p:txBody>
      </p:sp>
      <p:sp>
        <p:nvSpPr>
          <p:cNvPr id="3" name="Body Level One…">
            <a:extLst xmlns:a="http://schemas.openxmlformats.org/drawingml/2006/main">
              <a:ext uri="{FF2B5EF4-FFF2-40B4-BE49-F238E27FC236}">
                <a16:creationId xmlns:a16="http://schemas.microsoft.com/office/drawing/2014/main" id="{64F2E089-90B6-46B3-A3EE-C65717E3E4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0"/>
            <a:ext cx="10972800" cy="5257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  <a:r>
              <a:t>Body Level One</a:t>
            </a:r>
          </a:p>
          <a:p xmlns:a="http://schemas.openxmlformats.org/drawingml/2006/main">
            <a:pPr lvl="1">
              <a:buNone/>
            </a:pPr>
            <a:r>
              <a:t>Body Level Two</a:t>
            </a:r>
          </a:p>
          <a:p xmlns:a="http://schemas.openxmlformats.org/drawingml/2006/main">
            <a:pPr lvl="2">
              <a:buNone/>
            </a:pPr>
            <a:r>
              <a:t>Body Level Three</a:t>
            </a:r>
          </a:p>
          <a:p xmlns:a="http://schemas.openxmlformats.org/drawingml/2006/main">
            <a:pPr lvl="3">
              <a:buNone/>
            </a:pPr>
            <a:r>
              <a:t>Body Level Four</a:t>
            </a:r>
          </a:p>
          <a:p xmlns:a="http://schemas.openxmlformats.org/drawingml/2006/main">
            <a:pPr lvl="4">
              <a:buNone/>
            </a:pPr>
            <a:r>
              <a:t>Body Level Five</a:t>
            </a:r>
          </a:p>
        </p:txBody>
      </p:sp>
      <p:sp>
        <p:nvSpPr>
          <p:cNvPr id="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1E5686B-8A8B-4F3D-8065-ED2285E1576D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5892800" y="6172200"/>
            <a:ext cx="2844800" cy="3683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45719" rIns="45719" anchor="ctr">
            <a:spAutoFit/>
          </a:bodyPr>
          <a:lstStyle xmlns:a="http://schemas.openxmlformats.org/drawingml/2006/main">
            <a:lvl1pPr algn="r">
              <a:buNone/>
              <a:defRPr sz="1200"/>
            </a:lvl1pPr>
          </a:lstStyle>
          <a:p xmlns:a="http://schemas.openxmlformats.org/drawingml/2006/main">
            <a:pPr>
              <a:buNone/>
            </a:p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b5777abc3f4fb7"/>
  </p:sldLayoutIdLst>
  <p:txStyles>
    <p:titleStyle>
      <a:lvl1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1pPr>
      <a:lvl2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342900" marR="0" indent="-3429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1pPr>
      <a:lvl2pPr xmlns:a="http://schemas.openxmlformats.org/drawingml/2006/main" marL="783771" marR="0" indent="-326571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2pPr>
      <a:lvl3pPr xmlns:a="http://schemas.openxmlformats.org/drawingml/2006/main" marL="1219200" marR="0" indent="-3048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3pPr>
      <a:lvl4pPr xmlns:a="http://schemas.openxmlformats.org/drawingml/2006/main" marL="17373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4pPr>
      <a:lvl5pPr xmlns:a="http://schemas.openxmlformats.org/drawingml/2006/main" marL="21945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5pPr>
      <a:lvl6pPr xmlns:a="http://schemas.openxmlformats.org/drawingml/2006/main" marL="26517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6pPr>
      <a:lvl7pPr xmlns:a="http://schemas.openxmlformats.org/drawingml/2006/main" marL="31089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7pPr>
      <a:lvl8pPr xmlns:a="http://schemas.openxmlformats.org/drawingml/2006/main" marL="35661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8pPr>
      <a:lvl9pPr xmlns:a="http://schemas.openxmlformats.org/drawingml/2006/main" marL="40233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0" marR="0" indent="457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0" marR="0" indent="914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0" marR="0" indent="1371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0" marR="0" indent="18288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0" marR="0" indent="22860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0" marR="0" indent="2743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0" marR="0" indent="3200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0" marR="0" indent="3657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14311e8b924a07" /><Relationship Type="http://schemas.openxmlformats.org/officeDocument/2006/relationships/image" Target="/ppt/media/image.jpeg" Id="R094882a91d9a4d35" /><Relationship Type="http://schemas.openxmlformats.org/officeDocument/2006/relationships/image" Target="/ppt/media/image.png" Id="R22a8c4ce378c41c9" /><Relationship Type="http://schemas.openxmlformats.org/officeDocument/2006/relationships/notesSlide" Target="/ppt/notesSlides/notesSlide1.xml" Id="R7ff15fd4c8464e3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6c2afd8ffc4e3b" /><Relationship Type="http://schemas.openxmlformats.org/officeDocument/2006/relationships/image" Target="/ppt/media/image.jpeg" Id="R8ced2fe6c2a94031" /><Relationship Type="http://schemas.openxmlformats.org/officeDocument/2006/relationships/notesSlide" Target="/ppt/notesSlides/notesSlide2.xml" Id="Rca1d73a61f9441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204464a4b24e62" /><Relationship Type="http://schemas.openxmlformats.org/officeDocument/2006/relationships/image" Target="/ppt/media/image.jpeg" Id="R61be6ba608cd4929" /><Relationship Type="http://schemas.openxmlformats.org/officeDocument/2006/relationships/notesSlide" Target="/ppt/notesSlides/notesSlide3.xml" Id="R7209ea42266540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94ed221863454a" /><Relationship Type="http://schemas.openxmlformats.org/officeDocument/2006/relationships/image" Target="/ppt/media/image.jpeg" Id="R5dd3120e558c4db0" /><Relationship Type="http://schemas.openxmlformats.org/officeDocument/2006/relationships/notesSlide" Target="/ppt/notesSlides/notesSlide4.xml" Id="R7b71843e13ca425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780032a184be9" /><Relationship Type="http://schemas.openxmlformats.org/officeDocument/2006/relationships/image" Target="/ppt/media/image.jpeg" Id="R6c10d453ec9d476a" /><Relationship Type="http://schemas.openxmlformats.org/officeDocument/2006/relationships/notesSlide" Target="/ppt/notesSlides/notesSlide5.xml" Id="Rf076b2d971c74c8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7ce9e9e8ba48c3" /><Relationship Type="http://schemas.openxmlformats.org/officeDocument/2006/relationships/image" Target="/ppt/media/image.jpeg" Id="R1b64003bba034a23" /><Relationship Type="http://schemas.openxmlformats.org/officeDocument/2006/relationships/notesSlide" Target="/ppt/notesSlides/notesSlide6.xml" Id="R5be7f408e1a54b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221f42f7934b9e" /><Relationship Type="http://schemas.openxmlformats.org/officeDocument/2006/relationships/image" Target="/ppt/media/image.jpeg" Id="R83825345833d450d" /><Relationship Type="http://schemas.openxmlformats.org/officeDocument/2006/relationships/notesSlide" Target="/ppt/notesSlides/notesSlide7.xml" Id="R0373bd2c8b0447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800c0c83e43f6" /><Relationship Type="http://schemas.openxmlformats.org/officeDocument/2006/relationships/image" Target="/ppt/media/image2.jpeg" Id="R0774186d56e04944" /><Relationship Type="http://schemas.openxmlformats.org/officeDocument/2006/relationships/notesSlide" Target="/ppt/notesSlides/notesSlide8.xml" Id="R5238c04dee6846b7" 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hape 0">
            <a:extLst xmlns:a="http://schemas.openxmlformats.org/drawingml/2006/main">
              <a:ext uri="{FF2B5EF4-FFF2-40B4-BE49-F238E27FC236}">
                <a16:creationId xmlns:a16="http://schemas.microsoft.com/office/drawing/2014/main" id="{3AFA719B-FA72-47A6-B0BD-8A34EDF1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4882a91d9a4d35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a8c4ce378c41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1428750"/>
            <a:ext cx="1257300" cy="12573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3" name="Text 1">
            <a:extLst xmlns:a="http://schemas.openxmlformats.org/drawingml/2006/main">
              <a:ext uri="{FF2B5EF4-FFF2-40B4-BE49-F238E27FC236}">
                <a16:creationId xmlns:a16="http://schemas.microsoft.com/office/drawing/2014/main" id="{D88AF708-9AD8-4C36-AB21-0EA19BF8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7689" y="1675656"/>
            <a:ext cx="2196622" cy="76348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508" lnSpcReduction="0"/>
          </a:bodyPr>
          <a:lstStyle xmlns:a="http://schemas.openxmlformats.org/drawingml/2006/main">
            <a:lvl1pPr>
              <a:lnSpc>
                <a:spcPct val="112000"/>
              </a:lnSpc>
              <a:buNone/>
              <a:defRPr sz="2500">
                <a:solidFill>
                  <a:srgbClr val="111111"/>
                </a:solidFill>
                <a:latin typeface="Ropa Sans Italic"/>
                <a:ea typeface="Ropa Sans Italic"/>
                <a:cs typeface="Ropa Sans Italic"/>
              </a:defRPr>
            </a:lvl1pPr>
          </a:lstStyle>
          <a:p xmlns:a="http://schemas.openxmlformats.org/drawingml/2006/main">
            <a:pPr>
              <a:buNone/>
            </a:pPr>
            <a:r>
              <a:t>PROYECTO FINAL</a:t>
            </a:r>
          </a:p>
        </p:txBody>
      </p:sp>
      <p:sp>
        <p:nvSpPr>
          <p:cNvPr id="24" name="Text 2">
            <a:extLst xmlns:a="http://schemas.openxmlformats.org/drawingml/2006/main">
              <a:ext uri="{FF2B5EF4-FFF2-40B4-BE49-F238E27FC236}">
                <a16:creationId xmlns:a16="http://schemas.microsoft.com/office/drawing/2014/main" id="{854FAC82-80E5-4369-A71B-406B9864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250" y="3216623"/>
            <a:ext cx="3423500" cy="42475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58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2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SAP CO-PA: de ECC a AWS</a:t>
            </a:r>
          </a:p>
        </p:txBody>
      </p:sp>
      <p:sp>
        <p:nvSpPr>
          <p:cNvPr id="25" name="Text 3">
            <a:extLst xmlns:a="http://schemas.openxmlformats.org/drawingml/2006/main">
              <a:ext uri="{FF2B5EF4-FFF2-40B4-BE49-F238E27FC236}">
                <a16:creationId xmlns:a16="http://schemas.microsoft.com/office/drawing/2014/main" id="{695E310E-C3E6-4466-835B-888636A3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8705" y="4215179"/>
            <a:ext cx="3954590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Plan de migración · Cloud Computing (AWS)</a:t>
            </a:r>
          </a:p>
        </p:txBody>
      </p:sp>
    </p:spTree>
    <p:extLst>
      <p:ext uri="{BB962C8B-B14F-4D97-AF65-F5344CB8AC3E}">
        <p14:creationId xmlns:p14="http://schemas.microsoft.com/office/powerpoint/2010/main" val="548270046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hape 0">
            <a:extLst xmlns:a="http://schemas.openxmlformats.org/drawingml/2006/main">
              <a:ext uri="{FF2B5EF4-FFF2-40B4-BE49-F238E27FC236}">
                <a16:creationId xmlns:a16="http://schemas.microsoft.com/office/drawing/2014/main" id="{465B0A6D-B1AF-4843-99B2-0539644A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ed2fe6c2a94031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9" name="Text 1">
            <a:extLst xmlns:a="http://schemas.openxmlformats.org/drawingml/2006/main">
              <a:ext uri="{FF2B5EF4-FFF2-40B4-BE49-F238E27FC236}">
                <a16:creationId xmlns:a16="http://schemas.microsoft.com/office/drawing/2014/main" id="{CBF9B2C2-FCB0-4796-8E41-8C6E61E1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0" name="Text 2">
            <a:extLst xmlns:a="http://schemas.openxmlformats.org/drawingml/2006/main">
              <a:ext uri="{FF2B5EF4-FFF2-40B4-BE49-F238E27FC236}">
                <a16:creationId xmlns:a16="http://schemas.microsoft.com/office/drawing/2014/main" id="{61E48FC8-F19B-441A-BA21-34E23ACB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967219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FINAL/LA DECISIÓN</a:t>
            </a:r>
          </a:p>
        </p:txBody>
      </p:sp>
      <p:sp>
        <p:nvSpPr>
          <p:cNvPr id="31" name="Text 3">
            <a:extLst xmlns:a="http://schemas.openxmlformats.org/drawingml/2006/main">
              <a:ext uri="{FF2B5EF4-FFF2-40B4-BE49-F238E27FC236}">
                <a16:creationId xmlns:a16="http://schemas.microsoft.com/office/drawing/2014/main" id="{D6B7F85E-50B4-4A9E-86C7-71450B87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3906"/>
            <a:ext cx="10889933" cy="106828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160" lnSpcReduction="0"/>
          </a:bodyPr>
          <a:lstStyle xmlns:a="http://schemas.openxmlformats.org/drawingml/2006/main"/>
          <a:p xmlns:a="http://schemas.openxmlformats.org/drawingml/2006/main">
            <a:pPr defTabSz="758951">
              <a:lnSpc>
                <a:spcPct val="104000"/>
              </a:lnSpc>
              <a:buNone/>
              <a:defRPr sz="3237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ECC SIGUE ON-PREMISE: LA ANALÍTICA CO-PA SE MUEVE A AWS.</a:t>
            </a:r>
          </a:p>
        </p:txBody>
      </p:sp>
      <p:sp>
        <p:nvSpPr>
          <p:cNvPr id="32" name="Text 4">
            <a:extLst xmlns:a="http://schemas.openxmlformats.org/drawingml/2006/main">
              <a:ext uri="{FF2B5EF4-FFF2-40B4-BE49-F238E27FC236}">
                <a16:creationId xmlns:a16="http://schemas.microsoft.com/office/drawing/2014/main" id="{613CAD24-3FB2-4365-BB6A-FB157248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76800"/>
            <a:ext cx="9908858" cy="84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905255">
              <a:lnSpc>
                <a:spcPct val="135000"/>
              </a:lnSpc>
              <a:buNone/>
              <a:defRPr sz="1485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El alcance desacopla extracción, almacenamiento y consumo sin migrar el ERP. SAP SLT publica CO-PA; AWS recibe, transforma y sirve los datos con infraestructura reproducible.</a:t>
            </a:r>
          </a:p>
        </p:txBody>
      </p:sp>
      <p:sp>
        <p:nvSpPr>
          <p:cNvPr id="33" name="Text 6">
            <a:extLst xmlns:a="http://schemas.openxmlformats.org/drawingml/2006/main">
              <a:ext uri="{FF2B5EF4-FFF2-40B4-BE49-F238E27FC236}">
                <a16:creationId xmlns:a16="http://schemas.microsoft.com/office/drawing/2014/main" id="{EFA33075-82E4-49B1-8595-7F3CC5EF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90444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decisión</a:t>
            </a:r>
          </a:p>
        </p:txBody>
      </p:sp>
      <p:sp>
        <p:nvSpPr>
          <p:cNvPr id="34" name="Text 7">
            <a:extLst xmlns:a="http://schemas.openxmlformats.org/drawingml/2006/main">
              <a:ext uri="{FF2B5EF4-FFF2-40B4-BE49-F238E27FC236}">
                <a16:creationId xmlns:a16="http://schemas.microsoft.com/office/drawing/2014/main" id="{F193022A-126D-463E-BC1C-7C9C0A93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2102304786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Shape 0">
            <a:extLst xmlns:a="http://schemas.openxmlformats.org/drawingml/2006/main">
              <a:ext uri="{FF2B5EF4-FFF2-40B4-BE49-F238E27FC236}">
                <a16:creationId xmlns:a16="http://schemas.microsoft.com/office/drawing/2014/main" id="{7E5ACB83-EE4F-4E57-94C0-289605F9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6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be6ba608cd4929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8" name="Text 1">
            <a:extLst xmlns:a="http://schemas.openxmlformats.org/drawingml/2006/main">
              <a:ext uri="{FF2B5EF4-FFF2-40B4-BE49-F238E27FC236}">
                <a16:creationId xmlns:a16="http://schemas.microsoft.com/office/drawing/2014/main" id="{2FBDFF82-8152-4A7D-9B6A-9120FEDE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9" name="Text 2">
            <a:extLst xmlns:a="http://schemas.openxmlformats.org/drawingml/2006/main">
              <a:ext uri="{FF2B5EF4-FFF2-40B4-BE49-F238E27FC236}">
                <a16:creationId xmlns:a16="http://schemas.microsoft.com/office/drawing/2014/main" id="{D81EA20A-27D7-4E06-87E9-68ED8ABD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636882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FINAL/ALCANCE</a:t>
            </a:r>
          </a:p>
        </p:txBody>
      </p:sp>
      <p:sp>
        <p:nvSpPr>
          <p:cNvPr id="40" name="Text 3">
            <a:extLst xmlns:a="http://schemas.openxmlformats.org/drawingml/2006/main">
              <a:ext uri="{FF2B5EF4-FFF2-40B4-BE49-F238E27FC236}">
                <a16:creationId xmlns:a16="http://schemas.microsoft.com/office/drawing/2014/main" id="{3DBED1E3-DAF8-4E6A-93F3-DCA5DB77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ALCANCE CO-PA</a:t>
            </a:r>
          </a:p>
        </p:txBody>
      </p:sp>
      <p:sp>
        <p:nvSpPr>
          <p:cNvPr id="41" name="Text 4">
            <a:extLst xmlns:a="http://schemas.openxmlformats.org/drawingml/2006/main">
              <a:ext uri="{FF2B5EF4-FFF2-40B4-BE49-F238E27FC236}">
                <a16:creationId xmlns:a16="http://schemas.microsoft.com/office/drawing/2014/main" id="{E5123B8C-0CD0-41F1-9918-A5315C03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El flujo completo se defiende con tiempo, recursos y costos.</a:t>
            </a:r>
          </a:p>
        </p:txBody>
      </p:sp>
      <p:sp>
        <p:nvSpPr>
          <p:cNvPr id="42" name="Shape 5">
            <a:extLst xmlns:a="http://schemas.openxmlformats.org/drawingml/2006/main">
              <a:ext uri="{FF2B5EF4-FFF2-40B4-BE49-F238E27FC236}">
                <a16:creationId xmlns:a16="http://schemas.microsoft.com/office/drawing/2014/main" id="{75696AD5-82EA-4126-86D7-77B24CBB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86375" cy="2257575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3" name="Shape 6">
            <a:extLst xmlns:a="http://schemas.openxmlformats.org/drawingml/2006/main">
              <a:ext uri="{FF2B5EF4-FFF2-40B4-BE49-F238E27FC236}">
                <a16:creationId xmlns:a16="http://schemas.microsoft.com/office/drawing/2014/main" id="{4C224F44-F86A-440C-8E69-725319D0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32461"/>
            <a:ext cx="5286375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4" name="Shape 7">
            <a:extLst xmlns:a="http://schemas.openxmlformats.org/drawingml/2006/main">
              <a:ext uri="{FF2B5EF4-FFF2-40B4-BE49-F238E27FC236}">
                <a16:creationId xmlns:a16="http://schemas.microsoft.com/office/drawing/2014/main" id="{D784B46D-E988-4C14-89FE-54352120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8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8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5" name="Shape 8">
            <a:extLst xmlns:a="http://schemas.openxmlformats.org/drawingml/2006/main">
              <a:ext uri="{FF2B5EF4-FFF2-40B4-BE49-F238E27FC236}">
                <a16:creationId xmlns:a16="http://schemas.microsoft.com/office/drawing/2014/main" id="{0C3F804D-1D1E-4763-A9AD-53E724C0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6" name="Shape 9">
            <a:extLst xmlns:a="http://schemas.openxmlformats.org/drawingml/2006/main">
              <a:ext uri="{FF2B5EF4-FFF2-40B4-BE49-F238E27FC236}">
                <a16:creationId xmlns:a16="http://schemas.microsoft.com/office/drawing/2014/main" id="{D5277A02-5E32-4A2D-AE78-3BDF5F2A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3462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7" name="Text 10">
            <a:extLst xmlns:a="http://schemas.openxmlformats.org/drawingml/2006/main">
              <a:ext uri="{FF2B5EF4-FFF2-40B4-BE49-F238E27FC236}">
                <a16:creationId xmlns:a16="http://schemas.microsoft.com/office/drawing/2014/main" id="{E0883F70-62E1-42EC-845E-854408AB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543175"/>
            <a:ext cx="5207318" cy="355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162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700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Permanece on-premise</a:t>
            </a:r>
          </a:p>
        </p:txBody>
      </p:sp>
      <p:sp>
        <p:nvSpPr>
          <p:cNvPr id="48" name="Text 11">
            <a:extLst xmlns:a="http://schemas.openxmlformats.org/drawingml/2006/main">
              <a:ext uri="{FF2B5EF4-FFF2-40B4-BE49-F238E27FC236}">
                <a16:creationId xmlns:a16="http://schemas.microsoft.com/office/drawing/2014/main" id="{3014C03B-82D8-4A78-AA4A-2D5F834B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879824"/>
            <a:ext cx="5207318" cy="2314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74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0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operación transaccional</a:t>
            </a:r>
          </a:p>
        </p:txBody>
      </p:sp>
      <p:sp>
        <p:nvSpPr>
          <p:cNvPr id="49" name="Text 12">
            <a:extLst xmlns:a="http://schemas.openxmlformats.org/drawingml/2006/main">
              <a:ext uri="{FF2B5EF4-FFF2-40B4-BE49-F238E27FC236}">
                <a16:creationId xmlns:a16="http://schemas.microsoft.com/office/drawing/2014/main" id="{0BC06A4B-B3F4-4779-925F-5E97277A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4" y="3225551"/>
            <a:ext cx="4916806" cy="111799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ECC y tabla CO-PA CE1xxxx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SLT con DMIS 2018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Gateway / ODP / OData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red y controles corporativos</a:t>
            </a:r>
          </a:p>
        </p:txBody>
      </p:sp>
      <p:sp>
        <p:nvSpPr>
          <p:cNvPr id="50" name="Shape 13">
            <a:extLst xmlns:a="http://schemas.openxmlformats.org/drawingml/2006/main">
              <a:ext uri="{FF2B5EF4-FFF2-40B4-BE49-F238E27FC236}">
                <a16:creationId xmlns:a16="http://schemas.microsoft.com/office/drawing/2014/main" id="{4BFEF7E1-1B30-42D7-95BA-85DC5826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5286375" cy="2257575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1" name="Shape 14">
            <a:extLst xmlns:a="http://schemas.openxmlformats.org/drawingml/2006/main">
              <a:ext uri="{FF2B5EF4-FFF2-40B4-BE49-F238E27FC236}">
                <a16:creationId xmlns:a16="http://schemas.microsoft.com/office/drawing/2014/main" id="{2A8E2896-8CE5-4E2C-B779-0A2DCE25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32461"/>
            <a:ext cx="5286375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2" name="Shape 15">
            <a:extLst xmlns:a="http://schemas.openxmlformats.org/drawingml/2006/main">
              <a:ext uri="{FF2B5EF4-FFF2-40B4-BE49-F238E27FC236}">
                <a16:creationId xmlns:a16="http://schemas.microsoft.com/office/drawing/2014/main" id="{B5C052D4-DAF5-4489-AA92-4CE0AFF8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528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FCB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3" name="Shape 16">
            <a:extLst xmlns:a="http://schemas.openxmlformats.org/drawingml/2006/main">
              <a:ext uri="{FF2B5EF4-FFF2-40B4-BE49-F238E27FC236}">
                <a16:creationId xmlns:a16="http://schemas.microsoft.com/office/drawing/2014/main" id="{736C8356-E199-4D1E-94B4-FB7A79BF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2537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4" name="Shape 17">
            <a:extLst xmlns:a="http://schemas.openxmlformats.org/drawingml/2006/main">
              <a:ext uri="{FF2B5EF4-FFF2-40B4-BE49-F238E27FC236}">
                <a16:creationId xmlns:a16="http://schemas.microsoft.com/office/drawing/2014/main" id="{4574F43F-8FF9-4879-B2B5-E0D8F7E7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5" name="Text 18">
            <a:extLst xmlns:a="http://schemas.openxmlformats.org/drawingml/2006/main">
              <a:ext uri="{FF2B5EF4-FFF2-40B4-BE49-F238E27FC236}">
                <a16:creationId xmlns:a16="http://schemas.microsoft.com/office/drawing/2014/main" id="{71315B5A-5758-467C-9F51-35FC1A48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43175"/>
            <a:ext cx="5207318" cy="355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162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700" b="1">
                <a:solidFill>
                  <a:srgbClr val="00AFCB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Migra a AWS</a:t>
            </a:r>
          </a:p>
        </p:txBody>
      </p:sp>
      <p:sp>
        <p:nvSpPr>
          <p:cNvPr id="56" name="Text 19">
            <a:extLst xmlns:a="http://schemas.openxmlformats.org/drawingml/2006/main">
              <a:ext uri="{FF2B5EF4-FFF2-40B4-BE49-F238E27FC236}">
                <a16:creationId xmlns:a16="http://schemas.microsoft.com/office/drawing/2014/main" id="{BC621CDF-746E-43DB-9641-4394F630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9824"/>
            <a:ext cx="5207318" cy="2314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74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0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plataforma analítica</a:t>
            </a:r>
          </a:p>
        </p:txBody>
      </p:sp>
      <p:sp>
        <p:nvSpPr>
          <p:cNvPr id="57" name="Text 20">
            <a:extLst xmlns:a="http://schemas.openxmlformats.org/drawingml/2006/main">
              <a:ext uri="{FF2B5EF4-FFF2-40B4-BE49-F238E27FC236}">
                <a16:creationId xmlns:a16="http://schemas.microsoft.com/office/drawing/2014/main" id="{17D6569F-20B2-4E8A-9F3F-53386973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669" y="3225551"/>
            <a:ext cx="4916806" cy="111799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AppFlow y S3 Landing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ETL en EC2 Auto Scaling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S3 Curated y RDS PostgreSQL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consumo privado y Power BI Gateway</a:t>
            </a:r>
          </a:p>
        </p:txBody>
      </p:sp>
      <p:sp>
        <p:nvSpPr>
          <p:cNvPr id="58" name="Text 21">
            <a:extLst xmlns:a="http://schemas.openxmlformats.org/drawingml/2006/main">
              <a:ext uri="{FF2B5EF4-FFF2-40B4-BE49-F238E27FC236}">
                <a16:creationId xmlns:a16="http://schemas.microsoft.com/office/drawing/2014/main" id="{C81C013F-49DE-4501-9B77-DD66948B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59" name="Text 22">
            <a:extLst xmlns:a="http://schemas.openxmlformats.org/drawingml/2006/main">
              <a:ext uri="{FF2B5EF4-FFF2-40B4-BE49-F238E27FC236}">
                <a16:creationId xmlns:a16="http://schemas.microsoft.com/office/drawing/2014/main" id="{DC680408-5E38-40B5-BB02-D861CFB0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5810250"/>
            <a:ext cx="10389584" cy="5179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8366" lnSpcReduction="0"/>
          </a:bodyPr>
          <a:lstStyle xmlns:a="http://schemas.openxmlformats.org/drawingml/2006/main">
            <a:lvl1pPr defTabSz="905255">
              <a:lnSpc>
                <a:spcPct val="120000"/>
              </a:lnSpc>
              <a:buNone/>
              <a:defRPr sz="1485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SAP BW queda fuera del flujo. La demostración usa datos sintéticos: ningún registro productivo sale del entorno SAP.</a:t>
            </a:r>
          </a:p>
        </p:txBody>
      </p:sp>
      <p:sp>
        <p:nvSpPr>
          <p:cNvPr id="60" name="Text 24">
            <a:extLst xmlns:a="http://schemas.openxmlformats.org/drawingml/2006/main">
              <a:ext uri="{FF2B5EF4-FFF2-40B4-BE49-F238E27FC236}">
                <a16:creationId xmlns:a16="http://schemas.microsoft.com/office/drawing/2014/main" id="{1FC4D20B-1641-4FBA-A9DE-CD5CBBE1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3371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alcance</a:t>
            </a:r>
          </a:p>
        </p:txBody>
      </p:sp>
      <p:sp>
        <p:nvSpPr>
          <p:cNvPr id="61" name="Text 25">
            <a:extLst xmlns:a="http://schemas.openxmlformats.org/drawingml/2006/main">
              <a:ext uri="{FF2B5EF4-FFF2-40B4-BE49-F238E27FC236}">
                <a16:creationId xmlns:a16="http://schemas.microsoft.com/office/drawing/2014/main" id="{9012CE86-B0EB-4A48-B02E-D4E5A5D7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1992276309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8" name="Shape 0">
            <a:extLst xmlns:a="http://schemas.openxmlformats.org/drawingml/2006/main">
              <a:ext uri="{FF2B5EF4-FFF2-40B4-BE49-F238E27FC236}">
                <a16:creationId xmlns:a16="http://schemas.microsoft.com/office/drawing/2014/main" id="{2A6B98D2-3949-45DF-801A-36F21AB8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0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d3120e558c4db0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40" name="Text 1">
            <a:extLst xmlns:a="http://schemas.openxmlformats.org/drawingml/2006/main">
              <a:ext uri="{FF2B5EF4-FFF2-40B4-BE49-F238E27FC236}">
                <a16:creationId xmlns:a16="http://schemas.microsoft.com/office/drawing/2014/main" id="{1A3CD259-A7C6-4016-8612-8E23D32B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241" name="Text 2">
            <a:extLst xmlns:a="http://schemas.openxmlformats.org/drawingml/2006/main">
              <a:ext uri="{FF2B5EF4-FFF2-40B4-BE49-F238E27FC236}">
                <a16:creationId xmlns:a16="http://schemas.microsoft.com/office/drawing/2014/main" id="{8E059322-99EA-47FF-AA61-8DDEFCCE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52671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FINAL/ARQUITECTURA</a:t>
            </a:r>
          </a:p>
        </p:txBody>
      </p:sp>
      <p:sp>
        <p:nvSpPr>
          <p:cNvPr id="242" name="Text 3">
            <a:extLst xmlns:a="http://schemas.openxmlformats.org/drawingml/2006/main">
              <a:ext uri="{FF2B5EF4-FFF2-40B4-BE49-F238E27FC236}">
                <a16:creationId xmlns:a16="http://schemas.microsoft.com/office/drawing/2014/main" id="{AF3D01C9-673E-4CEF-9628-950C52D7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CUATRO CAPAS</a:t>
            </a:r>
          </a:p>
        </p:txBody>
      </p:sp>
      <p:sp>
        <p:nvSpPr>
          <p:cNvPr id="243" name="Text 4">
            <a:extLst xmlns:a="http://schemas.openxmlformats.org/drawingml/2006/main">
              <a:ext uri="{FF2B5EF4-FFF2-40B4-BE49-F238E27FC236}">
                <a16:creationId xmlns:a16="http://schemas.microsoft.com/office/drawing/2014/main" id="{53E69E5E-221A-461B-A7D4-C345DFCD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Responsabilidad, identidad y reproceso en cada capa.</a:t>
            </a:r>
          </a:p>
        </p:txBody>
      </p:sp>
      <p:sp>
        <p:nvSpPr>
          <p:cNvPr id="244" name="Shape 5">
            <a:extLst xmlns:a="http://schemas.openxmlformats.org/drawingml/2006/main">
              <a:ext uri="{FF2B5EF4-FFF2-40B4-BE49-F238E27FC236}">
                <a16:creationId xmlns:a16="http://schemas.microsoft.com/office/drawing/2014/main" id="{BC25D237-3DDA-46A5-95C5-E4B85933D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5305425" cy="1694409"/>
          </a:xfrm>
          <a:prstGeom xmlns:a="http://schemas.openxmlformats.org/drawingml/2006/main" prst="roundRect">
            <a:avLst>
              <a:gd name="adj" fmla="val 67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8D8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5" name="Shape 6">
            <a:extLst xmlns:a="http://schemas.openxmlformats.org/drawingml/2006/main">
              <a:ext uri="{FF2B5EF4-FFF2-40B4-BE49-F238E27FC236}">
                <a16:creationId xmlns:a16="http://schemas.microsoft.com/office/drawing/2014/main" id="{FBB739F4-75EB-4A28-9183-6F1BAAF2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466975"/>
            <a:ext cx="1523108" cy="208956"/>
          </a:xfrm>
          <a:prstGeom xmlns:a="http://schemas.openxmlformats.org/drawingml/2006/main" prst="roundRect">
            <a:avLst>
              <a:gd name="adj" fmla="val 27350"/>
            </a:avLst>
          </a:prstGeom>
          <a:solidFill xmlns:a="http://schemas.openxmlformats.org/drawingml/2006/main">
            <a:srgbClr val="2458FF">
              <a:alpha val="10000"/>
            </a:srgbClr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6" name="Text 7">
            <a:extLst xmlns:a="http://schemas.openxmlformats.org/drawingml/2006/main">
              <a:ext uri="{FF2B5EF4-FFF2-40B4-BE49-F238E27FC236}">
                <a16:creationId xmlns:a16="http://schemas.microsoft.com/office/drawing/2014/main" id="{31E6E61B-9EC8-4F21-9810-9FECF490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1427858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2458F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ORIGEN ON-PREMISE</a:t>
            </a:r>
          </a:p>
        </p:txBody>
      </p:sp>
      <p:sp>
        <p:nvSpPr>
          <p:cNvPr id="247" name="Text 8">
            <a:extLst xmlns:a="http://schemas.openxmlformats.org/drawingml/2006/main">
              <a:ext uri="{FF2B5EF4-FFF2-40B4-BE49-F238E27FC236}">
                <a16:creationId xmlns:a16="http://schemas.microsoft.com/office/drawing/2014/main" id="{72966C82-3C2B-448B-953D-5B5DC6F3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771180"/>
            <a:ext cx="5354004" cy="28664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09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3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ECC–SLT</a:t>
            </a:r>
          </a:p>
        </p:txBody>
      </p:sp>
      <p:sp>
        <p:nvSpPr>
          <p:cNvPr id="248" name="Text 9">
            <a:extLst xmlns:a="http://schemas.openxmlformats.org/drawingml/2006/main">
              <a:ext uri="{FF2B5EF4-FFF2-40B4-BE49-F238E27FC236}">
                <a16:creationId xmlns:a16="http://schemas.microsoft.com/office/drawing/2014/main" id="{998BCE47-7237-45EB-9276-1D688E90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76873"/>
            <a:ext cx="5013293" cy="4197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9919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CE1xxxx se replica con DMIS 2018 y se expone como proveedor ODP/OData; SAP BW no participa.</a:t>
            </a:r>
          </a:p>
        </p:txBody>
      </p:sp>
      <p:sp>
        <p:nvSpPr>
          <p:cNvPr id="249" name="Shape 10">
            <a:extLst xmlns:a="http://schemas.openxmlformats.org/drawingml/2006/main">
              <a:ext uri="{FF2B5EF4-FFF2-40B4-BE49-F238E27FC236}">
                <a16:creationId xmlns:a16="http://schemas.microsoft.com/office/drawing/2014/main" id="{1CAD9AA5-8B74-4B4F-89C9-EB551BAE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45383"/>
            <a:ext cx="828675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0" name="Text 11">
            <a:extLst xmlns:a="http://schemas.openxmlformats.org/drawingml/2006/main">
              <a:ext uri="{FF2B5EF4-FFF2-40B4-BE49-F238E27FC236}">
                <a16:creationId xmlns:a16="http://schemas.microsoft.com/office/drawing/2014/main" id="{A1BD6CDE-2CD9-4510-B148-3389A6F4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73958"/>
            <a:ext cx="733425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SAP ECC</a:t>
            </a:r>
          </a:p>
        </p:txBody>
      </p:sp>
      <p:sp>
        <p:nvSpPr>
          <p:cNvPr id="251" name="Shape 12">
            <a:extLst xmlns:a="http://schemas.openxmlformats.org/drawingml/2006/main">
              <a:ext uri="{FF2B5EF4-FFF2-40B4-BE49-F238E27FC236}">
                <a16:creationId xmlns:a16="http://schemas.microsoft.com/office/drawing/2014/main" id="{3DBF057C-5D8F-46DC-AFDD-284A5BE3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545383"/>
            <a:ext cx="14859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2" name="Text 13">
            <a:extLst xmlns:a="http://schemas.openxmlformats.org/drawingml/2006/main">
              <a:ext uri="{FF2B5EF4-FFF2-40B4-BE49-F238E27FC236}">
                <a16:creationId xmlns:a16="http://schemas.microsoft.com/office/drawing/2014/main" id="{318C622C-FCD7-4348-B7CC-F78EC4A3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3573958"/>
            <a:ext cx="13906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SAP SLT</a:t>
            </a:r>
          </a:p>
        </p:txBody>
      </p:sp>
      <p:sp>
        <p:nvSpPr>
          <p:cNvPr id="253" name="Shape 14">
            <a:extLst xmlns:a="http://schemas.openxmlformats.org/drawingml/2006/main">
              <a:ext uri="{FF2B5EF4-FFF2-40B4-BE49-F238E27FC236}">
                <a16:creationId xmlns:a16="http://schemas.microsoft.com/office/drawing/2014/main" id="{C0189788-9B01-45B9-BE57-C52AE545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45383"/>
            <a:ext cx="390525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4" name="Text 15">
            <a:extLst xmlns:a="http://schemas.openxmlformats.org/drawingml/2006/main">
              <a:ext uri="{FF2B5EF4-FFF2-40B4-BE49-F238E27FC236}">
                <a16:creationId xmlns:a16="http://schemas.microsoft.com/office/drawing/2014/main" id="{90171159-0620-4116-8256-45744120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573958"/>
            <a:ext cx="295275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ODP</a:t>
            </a:r>
          </a:p>
        </p:txBody>
      </p:sp>
      <p:sp>
        <p:nvSpPr>
          <p:cNvPr id="255" name="Shape 16">
            <a:extLst xmlns:a="http://schemas.openxmlformats.org/drawingml/2006/main">
              <a:ext uri="{FF2B5EF4-FFF2-40B4-BE49-F238E27FC236}">
                <a16:creationId xmlns:a16="http://schemas.microsoft.com/office/drawing/2014/main" id="{27D84C81-AA8E-4D34-A929-69C1B823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545383"/>
            <a:ext cx="3176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6" name="Text 17">
            <a:extLst xmlns:a="http://schemas.openxmlformats.org/drawingml/2006/main">
              <a:ext uri="{FF2B5EF4-FFF2-40B4-BE49-F238E27FC236}">
                <a16:creationId xmlns:a16="http://schemas.microsoft.com/office/drawing/2014/main" id="{50188908-771B-428F-B138-893AEAF7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573958"/>
            <a:ext cx="2223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596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OData</a:t>
            </a:r>
          </a:p>
        </p:txBody>
      </p:sp>
      <p:sp>
        <p:nvSpPr>
          <p:cNvPr id="257" name="Shape 18">
            <a:extLst xmlns:a="http://schemas.openxmlformats.org/drawingml/2006/main">
              <a:ext uri="{FF2B5EF4-FFF2-40B4-BE49-F238E27FC236}">
                <a16:creationId xmlns:a16="http://schemas.microsoft.com/office/drawing/2014/main" id="{DED3FD37-E523-485D-93F1-50FD8133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573" y="3545383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8" name="Text 19">
            <a:extLst xmlns:a="http://schemas.openxmlformats.org/drawingml/2006/main">
              <a:ext uri="{FF2B5EF4-FFF2-40B4-BE49-F238E27FC236}">
                <a16:creationId xmlns:a16="http://schemas.microsoft.com/office/drawing/2014/main" id="{C17C5014-5FCE-4769-8A5F-40F1C062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4298" y="3573958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VPN</a:t>
            </a:r>
          </a:p>
        </p:txBody>
      </p:sp>
      <p:sp>
        <p:nvSpPr>
          <p:cNvPr id="259" name="Shape 20">
            <a:extLst xmlns:a="http://schemas.openxmlformats.org/drawingml/2006/main">
              <a:ext uri="{FF2B5EF4-FFF2-40B4-BE49-F238E27FC236}">
                <a16:creationId xmlns:a16="http://schemas.microsoft.com/office/drawing/2014/main" id="{D990BEC9-9288-4EB3-AA5E-4582EB0C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247900"/>
            <a:ext cx="5305425" cy="1694409"/>
          </a:xfrm>
          <a:prstGeom xmlns:a="http://schemas.openxmlformats.org/drawingml/2006/main" prst="roundRect">
            <a:avLst>
              <a:gd name="adj" fmla="val 67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8D8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0" name="Shape 21">
            <a:extLst xmlns:a="http://schemas.openxmlformats.org/drawingml/2006/main">
              <a:ext uri="{FF2B5EF4-FFF2-40B4-BE49-F238E27FC236}">
                <a16:creationId xmlns:a16="http://schemas.microsoft.com/office/drawing/2014/main" id="{0393E0FD-E045-422A-9002-21995807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66975"/>
            <a:ext cx="1147614" cy="208956"/>
          </a:xfrm>
          <a:prstGeom xmlns:a="http://schemas.openxmlformats.org/drawingml/2006/main" prst="roundRect">
            <a:avLst>
              <a:gd name="adj" fmla="val 27350"/>
            </a:avLst>
          </a:prstGeom>
          <a:solidFill xmlns:a="http://schemas.openxmlformats.org/drawingml/2006/main">
            <a:srgbClr val="00AFCB">
              <a:alpha val="12000"/>
            </a:srgbClr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1" name="Text 22">
            <a:extLst xmlns:a="http://schemas.openxmlformats.org/drawingml/2006/main">
              <a:ext uri="{FF2B5EF4-FFF2-40B4-BE49-F238E27FC236}">
                <a16:creationId xmlns:a16="http://schemas.microsoft.com/office/drawing/2014/main" id="{B08287AE-804D-4A6E-9FCA-760BEBB4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95550"/>
            <a:ext cx="1052364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00AFCB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INGESTA</a:t>
            </a:r>
          </a:p>
        </p:txBody>
      </p:sp>
      <p:sp>
        <p:nvSpPr>
          <p:cNvPr id="262" name="Text 23">
            <a:extLst xmlns:a="http://schemas.openxmlformats.org/drawingml/2006/main">
              <a:ext uri="{FF2B5EF4-FFF2-40B4-BE49-F238E27FC236}">
                <a16:creationId xmlns:a16="http://schemas.microsoft.com/office/drawing/2014/main" id="{A98DCF15-0CA9-43E4-A37B-82E5A07D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71180"/>
            <a:ext cx="5354004" cy="28664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09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3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AppFlow → S3 Landing</a:t>
            </a:r>
          </a:p>
        </p:txBody>
      </p:sp>
      <p:sp>
        <p:nvSpPr>
          <p:cNvPr id="263" name="Text 24">
            <a:extLst xmlns:a="http://schemas.openxmlformats.org/drawingml/2006/main">
              <a:ext uri="{FF2B5EF4-FFF2-40B4-BE49-F238E27FC236}">
                <a16:creationId xmlns:a16="http://schemas.microsoft.com/office/drawing/2014/main" id="{39B9F185-3D3B-4EA5-AC31-6202483D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76873"/>
            <a:ext cx="5013293" cy="4197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9132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La carga inicial se particiona; luego AppFlow procesa deltas horarios y conserva originales para auditoría.</a:t>
            </a:r>
          </a:p>
        </p:txBody>
      </p:sp>
      <p:sp>
        <p:nvSpPr>
          <p:cNvPr id="264" name="Shape 25">
            <a:extLst xmlns:a="http://schemas.openxmlformats.org/drawingml/2006/main">
              <a:ext uri="{FF2B5EF4-FFF2-40B4-BE49-F238E27FC236}">
                <a16:creationId xmlns:a16="http://schemas.microsoft.com/office/drawing/2014/main" id="{1B504B68-199A-4C29-AE10-40FD3199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45383"/>
            <a:ext cx="3176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5" name="Text 26">
            <a:extLst xmlns:a="http://schemas.openxmlformats.org/drawingml/2006/main">
              <a:ext uri="{FF2B5EF4-FFF2-40B4-BE49-F238E27FC236}">
                <a16:creationId xmlns:a16="http://schemas.microsoft.com/office/drawing/2014/main" id="{C8B62ED3-62F1-4F31-9D05-30C0E6EB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573958"/>
            <a:ext cx="2223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42239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AppFlow</a:t>
            </a:r>
          </a:p>
        </p:txBody>
      </p:sp>
      <p:sp>
        <p:nvSpPr>
          <p:cNvPr id="266" name="Shape 27">
            <a:extLst xmlns:a="http://schemas.openxmlformats.org/drawingml/2006/main">
              <a:ext uri="{FF2B5EF4-FFF2-40B4-BE49-F238E27FC236}">
                <a16:creationId xmlns:a16="http://schemas.microsoft.com/office/drawing/2014/main" id="{7F0347AA-4D33-4CFA-9C4F-DBADCA033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8899" y="3545383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7" name="Text 28">
            <a:extLst xmlns:a="http://schemas.openxmlformats.org/drawingml/2006/main">
              <a:ext uri="{FF2B5EF4-FFF2-40B4-BE49-F238E27FC236}">
                <a16:creationId xmlns:a16="http://schemas.microsoft.com/office/drawing/2014/main" id="{DC5ACF4A-DABE-4FE8-81FF-48D0B9EC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4624" y="3573958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S3</a:t>
            </a:r>
          </a:p>
        </p:txBody>
      </p:sp>
      <p:sp>
        <p:nvSpPr>
          <p:cNvPr id="268" name="Shape 29">
            <a:extLst xmlns:a="http://schemas.openxmlformats.org/drawingml/2006/main">
              <a:ext uri="{FF2B5EF4-FFF2-40B4-BE49-F238E27FC236}">
                <a16:creationId xmlns:a16="http://schemas.microsoft.com/office/drawing/2014/main" id="{E077E5E7-FBD4-46E8-8C54-91AE45E9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6574" y="3545383"/>
            <a:ext cx="1047751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9" name="Text 30">
            <a:extLst xmlns:a="http://schemas.openxmlformats.org/drawingml/2006/main">
              <a:ext uri="{FF2B5EF4-FFF2-40B4-BE49-F238E27FC236}">
                <a16:creationId xmlns:a16="http://schemas.microsoft.com/office/drawing/2014/main" id="{FBB401E5-0B39-4623-9665-700180EB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99" y="3573958"/>
            <a:ext cx="952501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Parquet</a:t>
            </a:r>
          </a:p>
        </p:txBody>
      </p:sp>
      <p:sp>
        <p:nvSpPr>
          <p:cNvPr id="270" name="Shape 31">
            <a:extLst xmlns:a="http://schemas.openxmlformats.org/drawingml/2006/main">
              <a:ext uri="{FF2B5EF4-FFF2-40B4-BE49-F238E27FC236}">
                <a16:creationId xmlns:a16="http://schemas.microsoft.com/office/drawing/2014/main" id="{F39B4764-6C48-44AE-81FB-62E2B69A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474" y="3545383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1" name="Text 32">
            <a:extLst xmlns:a="http://schemas.openxmlformats.org/drawingml/2006/main">
              <a:ext uri="{FF2B5EF4-FFF2-40B4-BE49-F238E27FC236}">
                <a16:creationId xmlns:a16="http://schemas.microsoft.com/office/drawing/2014/main" id="{21596E3D-1757-40FA-9DE9-4AAFF239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199" y="3573958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IAM</a:t>
            </a:r>
          </a:p>
        </p:txBody>
      </p:sp>
      <p:sp>
        <p:nvSpPr>
          <p:cNvPr id="272" name="Shape 33">
            <a:extLst xmlns:a="http://schemas.openxmlformats.org/drawingml/2006/main">
              <a:ext uri="{FF2B5EF4-FFF2-40B4-BE49-F238E27FC236}">
                <a16:creationId xmlns:a16="http://schemas.microsoft.com/office/drawing/2014/main" id="{B2ECAE17-B3E4-4C80-9E15-6CD25B96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3757"/>
            <a:ext cx="5305425" cy="1694409"/>
          </a:xfrm>
          <a:prstGeom xmlns:a="http://schemas.openxmlformats.org/drawingml/2006/main" prst="roundRect">
            <a:avLst>
              <a:gd name="adj" fmla="val 67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8D8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3" name="Shape 34">
            <a:extLst xmlns:a="http://schemas.openxmlformats.org/drawingml/2006/main">
              <a:ext uri="{FF2B5EF4-FFF2-40B4-BE49-F238E27FC236}">
                <a16:creationId xmlns:a16="http://schemas.microsoft.com/office/drawing/2014/main" id="{B0019E63-3F35-4562-91CC-1A8762FC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332832"/>
            <a:ext cx="1147614" cy="208956"/>
          </a:xfrm>
          <a:prstGeom xmlns:a="http://schemas.openxmlformats.org/drawingml/2006/main" prst="roundRect">
            <a:avLst>
              <a:gd name="adj" fmla="val 27350"/>
            </a:avLst>
          </a:prstGeom>
          <a:solidFill xmlns:a="http://schemas.openxmlformats.org/drawingml/2006/main">
            <a:srgbClr val="00AFCB">
              <a:alpha val="12000"/>
            </a:srgbClr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4" name="Text 35">
            <a:extLst xmlns:a="http://schemas.openxmlformats.org/drawingml/2006/main">
              <a:ext uri="{FF2B5EF4-FFF2-40B4-BE49-F238E27FC236}">
                <a16:creationId xmlns:a16="http://schemas.microsoft.com/office/drawing/2014/main" id="{6A97F83E-4FE6-4E4F-86BC-4502D867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61407"/>
            <a:ext cx="1052364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00AFCB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PROCESAMIENTO</a:t>
            </a:r>
          </a:p>
        </p:txBody>
      </p:sp>
      <p:sp>
        <p:nvSpPr>
          <p:cNvPr id="275" name="Text 36">
            <a:extLst xmlns:a="http://schemas.openxmlformats.org/drawingml/2006/main">
              <a:ext uri="{FF2B5EF4-FFF2-40B4-BE49-F238E27FC236}">
                <a16:creationId xmlns:a16="http://schemas.microsoft.com/office/drawing/2014/main" id="{C9064306-C00D-46B4-BF8A-5CC4BD97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637037"/>
            <a:ext cx="5354004" cy="28664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09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3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ETL</a:t>
            </a:r>
          </a:p>
        </p:txBody>
      </p:sp>
      <p:sp>
        <p:nvSpPr>
          <p:cNvPr id="276" name="Text 37">
            <a:extLst xmlns:a="http://schemas.openxmlformats.org/drawingml/2006/main">
              <a:ext uri="{FF2B5EF4-FFF2-40B4-BE49-F238E27FC236}">
                <a16:creationId xmlns:a16="http://schemas.microsoft.com/office/drawing/2014/main" id="{0B9C90DF-859F-435D-B893-F718AB7C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942730"/>
            <a:ext cx="5013293" cy="4197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8223" lnSpcReduction="0"/>
          </a:bodyPr>
          <a:lstStyle xmlns:a="http://schemas.openxmlformats.org/drawingml/2006/main">
            <a:lvl1pPr defTabSz="896111">
              <a:lnSpc>
                <a:spcPct val="140000"/>
              </a:lnSpc>
              <a:buNone/>
              <a:defRPr sz="98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Workers privados validan y transforman particiones; Curated desacopla el reproceso de la base analítica.</a:t>
            </a:r>
          </a:p>
        </p:txBody>
      </p:sp>
      <p:sp>
        <p:nvSpPr>
          <p:cNvPr id="277" name="Shape 38">
            <a:extLst xmlns:a="http://schemas.openxmlformats.org/drawingml/2006/main">
              <a:ext uri="{FF2B5EF4-FFF2-40B4-BE49-F238E27FC236}">
                <a16:creationId xmlns:a16="http://schemas.microsoft.com/office/drawing/2014/main" id="{198EF34B-3D55-457B-9911-469D0E95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5411242"/>
            <a:ext cx="11939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8" name="Text 39">
            <a:extLst xmlns:a="http://schemas.openxmlformats.org/drawingml/2006/main">
              <a:ext uri="{FF2B5EF4-FFF2-40B4-BE49-F238E27FC236}">
                <a16:creationId xmlns:a16="http://schemas.microsoft.com/office/drawing/2014/main" id="{E440ABF7-35C2-4574-A6E2-BC1F979F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39817"/>
            <a:ext cx="10986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EC2</a:t>
            </a:r>
          </a:p>
        </p:txBody>
      </p:sp>
      <p:sp>
        <p:nvSpPr>
          <p:cNvPr id="279" name="Shape 40">
            <a:extLst xmlns:a="http://schemas.openxmlformats.org/drawingml/2006/main">
              <a:ext uri="{FF2B5EF4-FFF2-40B4-BE49-F238E27FC236}">
                <a16:creationId xmlns:a16="http://schemas.microsoft.com/office/drawing/2014/main" id="{F6E3E72F-A88F-42A5-8ADA-BC9CB992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324" y="5411242"/>
            <a:ext cx="68267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0" name="Text 41">
            <a:extLst xmlns:a="http://schemas.openxmlformats.org/drawingml/2006/main">
              <a:ext uri="{FF2B5EF4-FFF2-40B4-BE49-F238E27FC236}">
                <a16:creationId xmlns:a16="http://schemas.microsoft.com/office/drawing/2014/main" id="{2CA94F20-F58F-4F22-A743-04227A6D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049" y="5439817"/>
            <a:ext cx="58742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Auto Scaling</a:t>
            </a:r>
          </a:p>
        </p:txBody>
      </p:sp>
      <p:sp>
        <p:nvSpPr>
          <p:cNvPr id="281" name="Shape 42">
            <a:extLst xmlns:a="http://schemas.openxmlformats.org/drawingml/2006/main">
              <a:ext uri="{FF2B5EF4-FFF2-40B4-BE49-F238E27FC236}">
                <a16:creationId xmlns:a16="http://schemas.microsoft.com/office/drawing/2014/main" id="{E7097838-B3F5-4E5D-A50D-7689CF5F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149" y="5411242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2" name="Text 43">
            <a:extLst xmlns:a="http://schemas.openxmlformats.org/drawingml/2006/main">
              <a:ext uri="{FF2B5EF4-FFF2-40B4-BE49-F238E27FC236}">
                <a16:creationId xmlns:a16="http://schemas.microsoft.com/office/drawing/2014/main" id="{FE5ECBAF-0034-4F02-9ED3-E169CD6A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874" y="5439817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S3</a:t>
            </a:r>
          </a:p>
        </p:txBody>
      </p:sp>
      <p:sp>
        <p:nvSpPr>
          <p:cNvPr id="283" name="Shape 44">
            <a:extLst xmlns:a="http://schemas.openxmlformats.org/drawingml/2006/main">
              <a:ext uri="{FF2B5EF4-FFF2-40B4-BE49-F238E27FC236}">
                <a16:creationId xmlns:a16="http://schemas.microsoft.com/office/drawing/2014/main" id="{01070DB3-7FA8-4796-AA76-D44ECA1E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823" y="5411242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4" name="Text 45">
            <a:extLst xmlns:a="http://schemas.openxmlformats.org/drawingml/2006/main">
              <a:ext uri="{FF2B5EF4-FFF2-40B4-BE49-F238E27FC236}">
                <a16:creationId xmlns:a16="http://schemas.microsoft.com/office/drawing/2014/main" id="{DCE1EBFD-79EE-4B08-81D9-1DBE870C0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548" y="5439817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KMS</a:t>
            </a:r>
          </a:p>
        </p:txBody>
      </p:sp>
      <p:sp>
        <p:nvSpPr>
          <p:cNvPr id="285" name="Shape 46">
            <a:extLst xmlns:a="http://schemas.openxmlformats.org/drawingml/2006/main">
              <a:ext uri="{FF2B5EF4-FFF2-40B4-BE49-F238E27FC236}">
                <a16:creationId xmlns:a16="http://schemas.microsoft.com/office/drawing/2014/main" id="{4CA23EC8-9BD6-47B6-9AFB-8F245783A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113757"/>
            <a:ext cx="5305425" cy="1694409"/>
          </a:xfrm>
          <a:prstGeom xmlns:a="http://schemas.openxmlformats.org/drawingml/2006/main" prst="roundRect">
            <a:avLst>
              <a:gd name="adj" fmla="val 67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8D8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6" name="Shape 47">
            <a:extLst xmlns:a="http://schemas.openxmlformats.org/drawingml/2006/main">
              <a:ext uri="{FF2B5EF4-FFF2-40B4-BE49-F238E27FC236}">
                <a16:creationId xmlns:a16="http://schemas.microsoft.com/office/drawing/2014/main" id="{03A2DD9D-E5D5-488F-8D3D-48654A64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32832"/>
            <a:ext cx="1523108" cy="208956"/>
          </a:xfrm>
          <a:prstGeom xmlns:a="http://schemas.openxmlformats.org/drawingml/2006/main" prst="roundRect">
            <a:avLst>
              <a:gd name="adj" fmla="val 27350"/>
            </a:avLst>
          </a:prstGeom>
          <a:solidFill xmlns:a="http://schemas.openxmlformats.org/drawingml/2006/main">
            <a:srgbClr val="2458FF">
              <a:alpha val="10000"/>
            </a:srgbClr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7" name="Text 48">
            <a:extLst xmlns:a="http://schemas.openxmlformats.org/drawingml/2006/main">
              <a:ext uri="{FF2B5EF4-FFF2-40B4-BE49-F238E27FC236}">
                <a16:creationId xmlns:a16="http://schemas.microsoft.com/office/drawing/2014/main" id="{176E34E2-FFEA-4669-84E7-377FEC33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361407"/>
            <a:ext cx="1427858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2458F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CONSUMO</a:t>
            </a:r>
          </a:p>
        </p:txBody>
      </p:sp>
      <p:sp>
        <p:nvSpPr>
          <p:cNvPr id="288" name="Text 49">
            <a:extLst xmlns:a="http://schemas.openxmlformats.org/drawingml/2006/main">
              <a:ext uri="{FF2B5EF4-FFF2-40B4-BE49-F238E27FC236}">
                <a16:creationId xmlns:a16="http://schemas.microsoft.com/office/drawing/2014/main" id="{870FC6BF-2432-4028-B72D-0D2217C5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37037"/>
            <a:ext cx="5354004" cy="28664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09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3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RDS + BI</a:t>
            </a:r>
          </a:p>
        </p:txBody>
      </p:sp>
      <p:sp>
        <p:nvSpPr>
          <p:cNvPr id="289" name="Text 50">
            <a:extLst xmlns:a="http://schemas.openxmlformats.org/drawingml/2006/main">
              <a:ext uri="{FF2B5EF4-FFF2-40B4-BE49-F238E27FC236}">
                <a16:creationId xmlns:a16="http://schemas.microsoft.com/office/drawing/2014/main" id="{B1DCF016-1016-459A-AE50-5AF49E78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42730"/>
            <a:ext cx="5013293" cy="4197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8223" lnSpcReduction="0"/>
          </a:bodyPr>
          <a:lstStyle xmlns:a="http://schemas.openxmlformats.org/drawingml/2006/main">
            <a:lvl1pPr defTabSz="896111">
              <a:lnSpc>
                <a:spcPct val="140000"/>
              </a:lnSpc>
              <a:buNone/>
              <a:defRPr sz="98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PostgreSQL permanece privado; usuarios entran por VPN y Power BI Service usa un gateway con TLS.</a:t>
            </a:r>
          </a:p>
        </p:txBody>
      </p:sp>
      <p:sp>
        <p:nvSpPr>
          <p:cNvPr id="290" name="Shape 51">
            <a:extLst xmlns:a="http://schemas.openxmlformats.org/drawingml/2006/main">
              <a:ext uri="{FF2B5EF4-FFF2-40B4-BE49-F238E27FC236}">
                <a16:creationId xmlns:a16="http://schemas.microsoft.com/office/drawing/2014/main" id="{9A83FF21-907C-4EB5-AA9C-6594E75B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411242"/>
            <a:ext cx="14859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1" name="Text 52">
            <a:extLst xmlns:a="http://schemas.openxmlformats.org/drawingml/2006/main">
              <a:ext uri="{FF2B5EF4-FFF2-40B4-BE49-F238E27FC236}">
                <a16:creationId xmlns:a16="http://schemas.microsoft.com/office/drawing/2014/main" id="{DB2BA7AE-2F93-4A7F-B7AF-E827B44E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439817"/>
            <a:ext cx="13906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</a:t>
            </a:r>
          </a:p>
        </p:txBody>
      </p:sp>
      <p:sp>
        <p:nvSpPr>
          <p:cNvPr id="292" name="Shape 53">
            <a:extLst xmlns:a="http://schemas.openxmlformats.org/drawingml/2006/main">
              <a:ext uri="{FF2B5EF4-FFF2-40B4-BE49-F238E27FC236}">
                <a16:creationId xmlns:a16="http://schemas.microsoft.com/office/drawing/2014/main" id="{ED18E502-8A1D-443F-846D-4BFA23B3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411242"/>
            <a:ext cx="3176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3" name="Text 54">
            <a:extLst xmlns:a="http://schemas.openxmlformats.org/drawingml/2006/main">
              <a:ext uri="{FF2B5EF4-FFF2-40B4-BE49-F238E27FC236}">
                <a16:creationId xmlns:a16="http://schemas.microsoft.com/office/drawing/2014/main" id="{22414B24-192E-4F18-9D55-51C22D5C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5439817"/>
            <a:ext cx="2223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44648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Multi-AZ</a:t>
            </a:r>
          </a:p>
        </p:txBody>
      </p:sp>
      <p:sp>
        <p:nvSpPr>
          <p:cNvPr id="294" name="Shape 55">
            <a:extLst xmlns:a="http://schemas.openxmlformats.org/drawingml/2006/main">
              <a:ext uri="{FF2B5EF4-FFF2-40B4-BE49-F238E27FC236}">
                <a16:creationId xmlns:a16="http://schemas.microsoft.com/office/drawing/2014/main" id="{CADA1321-F51B-4438-B61F-D7880E8D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1949" y="5411242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5" name="Text 56">
            <a:extLst xmlns:a="http://schemas.openxmlformats.org/drawingml/2006/main">
              <a:ext uri="{FF2B5EF4-FFF2-40B4-BE49-F238E27FC236}">
                <a16:creationId xmlns:a16="http://schemas.microsoft.com/office/drawing/2014/main" id="{918AB26C-5A06-4AD2-B0B2-F6A04B8F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7674" y="5439817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60848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Gateway</a:t>
            </a:r>
          </a:p>
        </p:txBody>
      </p:sp>
      <p:sp>
        <p:nvSpPr>
          <p:cNvPr id="296" name="Shape 57">
            <a:extLst xmlns:a="http://schemas.openxmlformats.org/drawingml/2006/main">
              <a:ext uri="{FF2B5EF4-FFF2-40B4-BE49-F238E27FC236}">
                <a16:creationId xmlns:a16="http://schemas.microsoft.com/office/drawing/2014/main" id="{2E7617CE-25B9-4496-846C-237260B1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9624" y="5411242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7" name="Text 58">
            <a:extLst xmlns:a="http://schemas.openxmlformats.org/drawingml/2006/main">
              <a:ext uri="{FF2B5EF4-FFF2-40B4-BE49-F238E27FC236}">
                <a16:creationId xmlns:a16="http://schemas.microsoft.com/office/drawing/2014/main" id="{C321DF67-EB91-430B-8A7B-1C3C1965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349" y="5439817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TLS</a:t>
            </a:r>
          </a:p>
        </p:txBody>
      </p:sp>
      <p:sp>
        <p:nvSpPr>
          <p:cNvPr id="298" name="Shape 59">
            <a:extLst xmlns:a="http://schemas.openxmlformats.org/drawingml/2006/main">
              <a:ext uri="{FF2B5EF4-FFF2-40B4-BE49-F238E27FC236}">
                <a16:creationId xmlns:a16="http://schemas.microsoft.com/office/drawing/2014/main" id="{F440343B-A8B9-4A50-BCA2-E8335C0A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7299" y="5411242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9" name="Text 60">
            <a:extLst xmlns:a="http://schemas.openxmlformats.org/drawingml/2006/main">
              <a:ext uri="{FF2B5EF4-FFF2-40B4-BE49-F238E27FC236}">
                <a16:creationId xmlns:a16="http://schemas.microsoft.com/office/drawing/2014/main" id="{0D1ED65E-2BC6-4D8A-9695-B193E074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24" y="5439817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BI</a:t>
            </a:r>
          </a:p>
        </p:txBody>
      </p:sp>
      <p:sp>
        <p:nvSpPr>
          <p:cNvPr id="300" name="Text 61">
            <a:extLst xmlns:a="http://schemas.openxmlformats.org/drawingml/2006/main">
              <a:ext uri="{FF2B5EF4-FFF2-40B4-BE49-F238E27FC236}">
                <a16:creationId xmlns:a16="http://schemas.microsoft.com/office/drawing/2014/main" id="{A8B73CF1-39AF-47E3-81D0-FCAD94C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29350"/>
            <a:ext cx="5632802" cy="2095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7160" lnSpcReduction="0"/>
          </a:bodyPr>
          <a:lstStyle xmlns:a="http://schemas.openxmlformats.org/drawingml/2006/main">
            <a:lvl1pPr>
              <a:lnSpc>
                <a:spcPct val="150000"/>
              </a:lnSpc>
              <a:buNone/>
              <a:defRPr sz="9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Landing preserva; Curated valida; RDS sirve. La conectividad privada atraviesa todo el diseño.</a:t>
            </a:r>
          </a:p>
        </p:txBody>
      </p:sp>
      <p:sp>
        <p:nvSpPr>
          <p:cNvPr id="301" name="Text 62">
            <a:extLst xmlns:a="http://schemas.openxmlformats.org/drawingml/2006/main">
              <a:ext uri="{FF2B5EF4-FFF2-40B4-BE49-F238E27FC236}">
                <a16:creationId xmlns:a16="http://schemas.microsoft.com/office/drawing/2014/main" id="{DDC0C69F-BF51-4C42-A883-8608C46D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399892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arquitectura</a:t>
            </a:r>
          </a:p>
        </p:txBody>
      </p:sp>
      <p:sp>
        <p:nvSpPr>
          <p:cNvPr id="302" name="Text 63">
            <a:extLst xmlns:a="http://schemas.openxmlformats.org/drawingml/2006/main">
              <a:ext uri="{FF2B5EF4-FFF2-40B4-BE49-F238E27FC236}">
                <a16:creationId xmlns:a16="http://schemas.microsoft.com/office/drawing/2014/main" id="{B4631AFC-3676-4771-82F8-9CAE9546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1109297076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0d453ec9d476a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FINAL/DIMENSIONAMIENTO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CAPACIDAD BASE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45 millones guían la prueba; el tamaño real se mide.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VOLUMEN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45 millones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CO-PA · crecimiento 20 %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Carga inicial estimada en 45–54 GiB. Prueba sintética mínima: 4,5 millones de filas antes de producción.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PROCESAMIENTO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 → 4 workers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EC2 m6i.large · Auto Scaling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Un worker continuo; expansión temporal para carga inicial y picos. Delta de AppFlow cada hora.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DATOS PRIVADOS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100 → 200 GiB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 db.m6g.large · Multi-AZ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gp3, backups 14 días, KMS y Secrets Manager. S3 inicia con 100 GiB y proyecta 200 GiB.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RDS no tiene endpoint público; Power BI consume mediante gateway y TLS, nunca con una conexión directa desde Internet.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recursos y seguridad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64003bba034a23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FINAL/CRONOGRAMA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PLAN DE MIGRACIÓN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Camino crítico: SAP, red, OData, AppFlow y conciliación.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SEMANAS 1–3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Preparar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alcance · red · Terraform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Aprobar responsables y accesos; validar VPN, seguridad y desplegar la infraestructura reproducible.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SEMANAS 4–7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Probar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funcional · volumen · recuperación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Ensayar carga y deltas, medir 10 % del volumen, restaurar RDS y obtener aceptación del usuario.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SEMANAS 8–10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Cortar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delta final · hypercare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Conciliar, habilitar primero al piloto y estabilizar cinco días. La plataforma anterior queda en consulta.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No-Go si la diferencia no explicada supera 0,1 %, el delta se detiene dos horas o falla una consulta crítica.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cronograma y corte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25345833d450d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FINAL/COSTOS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COSTO: USD 662/MES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On-Demand us-east-1; incluye backups, transferencia y logs.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BASE PRODUCTIVA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662,22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mensual · USD 7.946,64 anual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Incluye ETL, RDS Multi-AZ, dos gateways Windows, VPN, S3, AppFlow, KMS, secretos y monitoreo.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DÓNDE ESTÁ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81,6 %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 + Power BI Gateway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La disponibilidad domina el presupuesto; AppFlow y S3 representan una porción menor del total.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ALTERNATIVA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379,74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gateway corporativo existente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Reduce el gasto AWS, pero traslada capacidad y operación a infraestructura Windows on-premise.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No se presupuestan descuentos antes de medir. Luego se evalúan reserva RDS, ETL programado y lifecycle S3.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costos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4" name="Shape 0">
            <a:extLst xmlns:a="http://schemas.openxmlformats.org/drawingml/2006/main">
              <a:ext uri="{FF2B5EF4-FFF2-40B4-BE49-F238E27FC236}">
                <a16:creationId xmlns:a16="http://schemas.microsoft.com/office/drawing/2014/main" id="{F33634A1-CCD5-4C1F-81A4-01322F6A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2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74186d56e04944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06" name="Text 1">
            <a:extLst xmlns:a="http://schemas.openxmlformats.org/drawingml/2006/main">
              <a:ext uri="{FF2B5EF4-FFF2-40B4-BE49-F238E27FC236}">
                <a16:creationId xmlns:a16="http://schemas.microsoft.com/office/drawing/2014/main" id="{6EA44020-004B-4F91-AE15-1F28DC24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07" name="Text 2">
            <a:extLst xmlns:a="http://schemas.openxmlformats.org/drawingml/2006/main">
              <a:ext uri="{FF2B5EF4-FFF2-40B4-BE49-F238E27FC236}">
                <a16:creationId xmlns:a16="http://schemas.microsoft.com/office/drawing/2014/main" id="{EF854649-E9B7-41F4-BE53-9690E5D5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779050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FINAL/EVIDENCIA</a:t>
            </a:r>
          </a:p>
        </p:txBody>
      </p:sp>
      <p:sp>
        <p:nvSpPr>
          <p:cNvPr id="308" name="Text 3">
            <a:extLst xmlns:a="http://schemas.openxmlformats.org/drawingml/2006/main">
              <a:ext uri="{FF2B5EF4-FFF2-40B4-BE49-F238E27FC236}">
                <a16:creationId xmlns:a16="http://schemas.microsoft.com/office/drawing/2014/main" id="{7EA9DD95-F23D-47E2-8E87-81DA97C1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5815"/>
            <a:ext cx="3163919" cy="103822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4759" lnSpcReduction="0"/>
          </a:bodyPr>
          <a:lstStyle xmlns:a="http://schemas.openxmlformats.org/drawingml/2006/main">
            <a:lvl1pPr defTabSz="804672">
              <a:lnSpc>
                <a:spcPct val="104999"/>
              </a:lnSpc>
              <a:buNone/>
              <a:defRPr sz="3256" b="1" spc="-88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LISTO PARA DEFENDER</a:t>
            </a:r>
          </a:p>
        </p:txBody>
      </p:sp>
      <p:sp>
        <p:nvSpPr>
          <p:cNvPr id="309" name="Text 5">
            <a:extLst xmlns:a="http://schemas.openxmlformats.org/drawingml/2006/main">
              <a:ext uri="{FF2B5EF4-FFF2-40B4-BE49-F238E27FC236}">
                <a16:creationId xmlns:a16="http://schemas.microsoft.com/office/drawing/2014/main" id="{E07CEA80-8EC6-4286-9818-FE2D06A8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1685925"/>
            <a:ext cx="371475" cy="2571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1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0" name="Text 6">
            <a:extLst xmlns:a="http://schemas.openxmlformats.org/drawingml/2006/main">
              <a:ext uri="{FF2B5EF4-FFF2-40B4-BE49-F238E27FC236}">
                <a16:creationId xmlns:a16="http://schemas.microsoft.com/office/drawing/2014/main" id="{F38A7B3B-9B57-4F5B-928B-E0F29497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76400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 servicios AWS materializados en LocalStack</a:t>
            </a:r>
          </a:p>
        </p:txBody>
      </p:sp>
      <p:sp>
        <p:nvSpPr>
          <p:cNvPr id="311" name="Text 7">
            <a:extLst xmlns:a="http://schemas.openxmlformats.org/drawingml/2006/main">
              <a:ext uri="{FF2B5EF4-FFF2-40B4-BE49-F238E27FC236}">
                <a16:creationId xmlns:a16="http://schemas.microsoft.com/office/drawing/2014/main" id="{A19E6719-E898-4B53-B7E2-65ADBB52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193577"/>
            <a:ext cx="371475" cy="2571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2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2" name="Text 8">
            <a:extLst xmlns:a="http://schemas.openxmlformats.org/drawingml/2006/main">
              <a:ext uri="{FF2B5EF4-FFF2-40B4-BE49-F238E27FC236}">
                <a16:creationId xmlns:a16="http://schemas.microsoft.com/office/drawing/2014/main" id="{C0BF63FF-90F9-4B4F-A141-B08F394E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4052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13 controles aprobados · 0 advertencias</a:t>
            </a:r>
          </a:p>
        </p:txBody>
      </p:sp>
      <p:sp>
        <p:nvSpPr>
          <p:cNvPr id="313" name="Text 9">
            <a:extLst xmlns:a="http://schemas.openxmlformats.org/drawingml/2006/main">
              <a:ext uri="{FF2B5EF4-FFF2-40B4-BE49-F238E27FC236}">
                <a16:creationId xmlns:a16="http://schemas.microsoft.com/office/drawing/2014/main" id="{63162C38-7CCD-4009-847A-8BB02726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701230"/>
            <a:ext cx="371475" cy="2571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2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4" name="Text 10">
            <a:extLst xmlns:a="http://schemas.openxmlformats.org/drawingml/2006/main">
              <a:ext uri="{FF2B5EF4-FFF2-40B4-BE49-F238E27FC236}">
                <a16:creationId xmlns:a16="http://schemas.microsoft.com/office/drawing/2014/main" id="{F6944613-DF9A-4149-857B-67245FE8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91705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 pruebas · Terraform 1.5.7 válido</a:t>
            </a:r>
          </a:p>
        </p:txBody>
      </p:sp>
      <p:sp>
        <p:nvSpPr>
          <p:cNvPr id="315" name="Text 13">
            <a:extLst xmlns:a="http://schemas.openxmlformats.org/drawingml/2006/main">
              <a:ext uri="{FF2B5EF4-FFF2-40B4-BE49-F238E27FC236}">
                <a16:creationId xmlns:a16="http://schemas.microsoft.com/office/drawing/2014/main" id="{34CE6505-1AE9-432D-98F0-AD31B3A7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810125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6" name="Text 14">
            <a:extLst xmlns:a="http://schemas.openxmlformats.org/drawingml/2006/main">
              <a:ext uri="{FF2B5EF4-FFF2-40B4-BE49-F238E27FC236}">
                <a16:creationId xmlns:a16="http://schemas.microsoft.com/office/drawing/2014/main" id="{984DC0B5-A938-4282-A649-DA7E2EE1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829175"/>
            <a:ext cx="5042726" cy="5179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4602" lnSpcReduction="0"/>
          </a:bodyPr>
          <a:lstStyle xmlns:a="http://schemas.openxmlformats.org/drawingml/2006/main">
            <a:lvl1pPr defTabSz="822959">
              <a:lnSpc>
                <a:spcPct val="120000"/>
              </a:lnSpc>
              <a:buNone/>
              <a:defRPr sz="1350" b="1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Próxima decisión: validar el EntitySet CO-PA OData en SAP antes del piloto productivo.</a:t>
            </a:r>
          </a:p>
        </p:txBody>
      </p:sp>
      <p:sp>
        <p:nvSpPr>
          <p:cNvPr id="317" name="Text 15">
            <a:extLst xmlns:a="http://schemas.openxmlformats.org/drawingml/2006/main">
              <a:ext uri="{FF2B5EF4-FFF2-40B4-BE49-F238E27FC236}">
                <a16:creationId xmlns:a16="http://schemas.microsoft.com/office/drawing/2014/main" id="{8A19A08C-155F-43CB-B2FD-A5D240C1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208188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D8D8D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cierre</a:t>
            </a:r>
          </a:p>
        </p:txBody>
      </p:sp>
      <p:sp>
        <p:nvSpPr>
          <p:cNvPr id="318" name="Text 16">
            <a:extLst xmlns:a="http://schemas.openxmlformats.org/drawingml/2006/main">
              <a:ext uri="{FF2B5EF4-FFF2-40B4-BE49-F238E27FC236}">
                <a16:creationId xmlns:a16="http://schemas.microsoft.com/office/drawing/2014/main" id="{3450E16D-BA86-48EE-9C91-E6AAD590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D8D8D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180114476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2026-08-11T00:55:56.6190000Z</dcterms:created>
  <dcterms:modified xsi:type="dcterms:W3CDTF">2026-08-11T00:55:56.6190000Z</dcterms:modified>
</coreProperties>
</file>