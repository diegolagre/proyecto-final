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26e9934eee4afe" /><Relationship Type="http://schemas.openxmlformats.org/officeDocument/2006/relationships/extended-properties" Target="/docProps/app.xml" Id="Ref3599e7a5264583" /><Relationship Type="http://schemas.openxmlformats.org/officeDocument/2006/relationships/officeDocument" Target="/ppt/presentation.xml" Id="R5c2204a93e124a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bdfa3fe31444dd"/>
  </p:sldMasterIdLst>
  <p:notesMasterIdLst>
    <p:notesMasterId xmlns:r="http://schemas.openxmlformats.org/officeDocument/2006/relationships" r:id="Rb7fde6d1753e4304"/>
  </p:notesMasterIdLst>
  <p:sldIdLst>
    <p:sldId xmlns:r="http://schemas.openxmlformats.org/officeDocument/2006/relationships" id="256" r:id="Rc1b1094f40584e41"/>
    <p:sldId xmlns:r="http://schemas.openxmlformats.org/officeDocument/2006/relationships" id="257" r:id="Re6a6daad39b94cf9"/>
    <p:sldId xmlns:r="http://schemas.openxmlformats.org/officeDocument/2006/relationships" id="258" r:id="Re886127aec714eb6"/>
    <p:sldId xmlns:r="http://schemas.openxmlformats.org/officeDocument/2006/relationships" id="259" r:id="R416d0a8deea0403f"/>
    <p:sldId xmlns:r="http://schemas.openxmlformats.org/officeDocument/2006/relationships" id="260" r:id="R7baf9d35fdd9452b"/>
    <p:sldId xmlns:r="http://schemas.openxmlformats.org/officeDocument/2006/relationships" id="261" r:id="Re41605867a904737"/>
    <p:sldId xmlns:r="http://schemas.openxmlformats.org/officeDocument/2006/relationships" id="262" r:id="R90b5db182ea941ae"/>
    <p:sldId xmlns:r="http://schemas.openxmlformats.org/officeDocument/2006/relationships" id="263" r:id="R17b07323238a46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8efa136d8647d5" /><Relationship Type="http://schemas.openxmlformats.org/officeDocument/2006/relationships/slideMaster" Target="/ppt/slideMasters/slideMaster1.xml" Id="R03bdfa3fe31444dd" /><Relationship Type="http://schemas.openxmlformats.org/officeDocument/2006/relationships/notesMaster" Target="/ppt/notesMasters/notesMaster1.xml" Id="Rb7fde6d1753e4304" /><Relationship Type="http://schemas.openxmlformats.org/officeDocument/2006/relationships/presProps" Target="/ppt/presProps.xml" Id="R3fb7a49c2c0b4b83" /><Relationship Type="http://schemas.openxmlformats.org/officeDocument/2006/relationships/tableStyles" Target="/ppt/tableStyles.xml" Id="R0a354226644b4220" /><Relationship Type="http://schemas.openxmlformats.org/officeDocument/2006/relationships/slide" Target="/ppt/slides/slide1.xml" Id="Rc1b1094f40584e41" /><Relationship Type="http://schemas.openxmlformats.org/officeDocument/2006/relationships/slide" Target="/ppt/slides/slide2.xml" Id="Re6a6daad39b94cf9" /><Relationship Type="http://schemas.openxmlformats.org/officeDocument/2006/relationships/slide" Target="/ppt/slides/slide3.xml" Id="Re886127aec714eb6" /><Relationship Type="http://schemas.openxmlformats.org/officeDocument/2006/relationships/slide" Target="/ppt/slides/slide4.xml" Id="R416d0a8deea0403f" /><Relationship Type="http://schemas.openxmlformats.org/officeDocument/2006/relationships/slide" Target="/ppt/slides/slide5.xml" Id="R7baf9d35fdd9452b" /><Relationship Type="http://schemas.openxmlformats.org/officeDocument/2006/relationships/slide" Target="/ppt/slides/slide6.xml" Id="Re41605867a904737" /><Relationship Type="http://schemas.openxmlformats.org/officeDocument/2006/relationships/slide" Target="/ppt/slides/slide7.xml" Id="R90b5db182ea941ae" /><Relationship Type="http://schemas.openxmlformats.org/officeDocument/2006/relationships/slide" Target="/ppt/slides/slide8.xml" Id="R17b07323238a46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a089e9ee8044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2808f9bc824b5c" /><Relationship Type="http://schemas.openxmlformats.org/officeDocument/2006/relationships/notesMaster" Target="/ppt/notesMasters/notesMaster1.xml" Id="R3e9097ee21474f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f748b3c92743d6" /><Relationship Type="http://schemas.openxmlformats.org/officeDocument/2006/relationships/notesMaster" Target="/ppt/notesMasters/notesMaster1.xml" Id="R73623e2e52b54a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a2a69f7c2e48d4" /><Relationship Type="http://schemas.openxmlformats.org/officeDocument/2006/relationships/notesMaster" Target="/ppt/notesMasters/notesMaster1.xml" Id="Rdb4e9b2891294c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c046ffb1ee4658" /><Relationship Type="http://schemas.openxmlformats.org/officeDocument/2006/relationships/notesMaster" Target="/ppt/notesMasters/notesMaster1.xml" Id="Rd6749b1667a842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0473b4ce3b4671" /><Relationship Type="http://schemas.openxmlformats.org/officeDocument/2006/relationships/notesMaster" Target="/ppt/notesMasters/notesMaster1.xml" Id="R0310f8ad28364c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410c170e844c6d" /><Relationship Type="http://schemas.openxmlformats.org/officeDocument/2006/relationships/notesMaster" Target="/ppt/notesMasters/notesMaster1.xml" Id="Rb6460ba9936a4c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7cf388d3e54542" /><Relationship Type="http://schemas.openxmlformats.org/officeDocument/2006/relationships/notesMaster" Target="/ppt/notesMasters/notesMaster1.xml" Id="Rf489265255a146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a9be6df5b14c1b" /><Relationship Type="http://schemas.openxmlformats.org/officeDocument/2006/relationships/notesMaster" Target="/ppt/notesMasters/notesMaster1.xml" Id="R63fd550d358c41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outputs/arquitectura-sap-erp-slt-aws-consumo-v2.png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297b907a7469c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37c5c0a06d4c47" /><Relationship Type="http://schemas.openxmlformats.org/officeDocument/2006/relationships/slideLayout" Target="/ppt/slideLayouts/slideLayout1.xml" Id="R3e0e85653cfd4b7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0e85653cfd4b74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36893a27e4d32" /><Relationship Type="http://schemas.openxmlformats.org/officeDocument/2006/relationships/image" Target="/ppt/media/image.jpeg" Id="Rb6bf05f47a5a48b7" /><Relationship Type="http://schemas.openxmlformats.org/officeDocument/2006/relationships/image" Target="/ppt/media/image.png" Id="Rbe829faa81074619" /><Relationship Type="http://schemas.openxmlformats.org/officeDocument/2006/relationships/notesSlide" Target="/ppt/notesSlides/notesSlide1.xml" Id="R04f5de40fdb346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7fa0b05ad48e7" /><Relationship Type="http://schemas.openxmlformats.org/officeDocument/2006/relationships/image" Target="/ppt/media/image.jpeg" Id="Rd4b5e71abfe7467a" /><Relationship Type="http://schemas.openxmlformats.org/officeDocument/2006/relationships/notesSlide" Target="/ppt/notesSlides/notesSlide2.xml" Id="Rd44a8e1aa00243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6dbef2c4641c4" /><Relationship Type="http://schemas.openxmlformats.org/officeDocument/2006/relationships/image" Target="/ppt/media/image.jpeg" Id="R2525e47161fc42e8" /><Relationship Type="http://schemas.openxmlformats.org/officeDocument/2006/relationships/notesSlide" Target="/ppt/notesSlides/notesSlide3.xml" Id="Rb4f7a058745c47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35b38a9cc4b66" /><Relationship Type="http://schemas.openxmlformats.org/officeDocument/2006/relationships/image" Target="/ppt/media/image.jpeg" Id="R05cf515588f645a0" /><Relationship Type="http://schemas.openxmlformats.org/officeDocument/2006/relationships/notesSlide" Target="/ppt/notesSlides/notesSlide4.xml" Id="R7d571e28a84a49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e4d3b93d64275" /><Relationship Type="http://schemas.openxmlformats.org/officeDocument/2006/relationships/image" Target="/ppt/media/image.jpeg" Id="Re72833768c3044b2" /><Relationship Type="http://schemas.openxmlformats.org/officeDocument/2006/relationships/notesSlide" Target="/ppt/notesSlides/notesSlide5.xml" Id="Rc2da6d6cc79c4c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6d7f8db734862" /><Relationship Type="http://schemas.openxmlformats.org/officeDocument/2006/relationships/image" Target="/ppt/media/image.jpeg" Id="R0523718026e54089" /><Relationship Type="http://schemas.openxmlformats.org/officeDocument/2006/relationships/notesSlide" Target="/ppt/notesSlides/notesSlide6.xml" Id="R1088a94c60084c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94ae7095e4451" /><Relationship Type="http://schemas.openxmlformats.org/officeDocument/2006/relationships/image" Target="/ppt/media/image.jpeg" Id="R7629e8cbef4d4931" /><Relationship Type="http://schemas.openxmlformats.org/officeDocument/2006/relationships/notesSlide" Target="/ppt/notesSlides/notesSlide7.xml" Id="R0bd38d9779f04a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f2638f218401c" /><Relationship Type="http://schemas.openxmlformats.org/officeDocument/2006/relationships/image" Target="/ppt/media/image2.jpeg" Id="R3fd555f2dcbb4ed8" /><Relationship Type="http://schemas.openxmlformats.org/officeDocument/2006/relationships/notesSlide" Target="/ppt/notesSlides/notesSlide8.xml" Id="R911194a52c5342e8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f05f47a5a48b7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829faa810746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5e71abfe7467a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5e47161fc42e8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Shape 0">
            <a:extLst xmlns:a="http://schemas.openxmlformats.org/drawingml/2006/main">
              <a:ext uri="{FF2B5EF4-FFF2-40B4-BE49-F238E27FC236}">
                <a16:creationId xmlns:a16="http://schemas.microsoft.com/office/drawing/2014/main" id="{2A6B98D2-3949-45DF-801A-36F21AB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0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f515588f645a0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40" name="Text 1">
            <a:extLst xmlns:a="http://schemas.openxmlformats.org/drawingml/2006/main">
              <a:ext uri="{FF2B5EF4-FFF2-40B4-BE49-F238E27FC236}">
                <a16:creationId xmlns:a16="http://schemas.microsoft.com/office/drawing/2014/main" id="{1A3CD259-A7C6-4016-8612-8E23D32B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241" name="Text 2">
            <a:extLst xmlns:a="http://schemas.openxmlformats.org/drawingml/2006/main">
              <a:ext uri="{FF2B5EF4-FFF2-40B4-BE49-F238E27FC236}">
                <a16:creationId xmlns:a16="http://schemas.microsoft.com/office/drawing/2014/main" id="{8E059322-99EA-47FF-AA61-8DDEFCCE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52671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FINAL/ARQUITECTURA</a:t>
            </a:r>
          </a:p>
        </p:txBody>
      </p:sp>
      <p:sp>
        <p:nvSpPr>
          <p:cNvPr id="242" name="Text 3">
            <a:extLst xmlns:a="http://schemas.openxmlformats.org/drawingml/2006/main">
              <a:ext uri="{FF2B5EF4-FFF2-40B4-BE49-F238E27FC236}">
                <a16:creationId xmlns:a16="http://schemas.microsoft.com/office/drawing/2014/main" id="{AF3D01C9-673E-4CEF-9628-950C52D7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CUATRO CAPAS</a:t>
            </a:r>
          </a:p>
        </p:txBody>
      </p:sp>
      <p:sp>
        <p:nvSpPr>
          <p:cNvPr id="243" name="Text 4">
            <a:extLst xmlns:a="http://schemas.openxmlformats.org/drawingml/2006/main">
              <a:ext uri="{FF2B5EF4-FFF2-40B4-BE49-F238E27FC236}">
                <a16:creationId xmlns:a16="http://schemas.microsoft.com/office/drawing/2014/main" id="{53E69E5E-221A-461B-A7D4-C345DFCD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Responsabilidad, identidad y reproceso en cada capa.</a:t>
            </a:r>
          </a:p>
        </p:txBody>
      </p:sp>
      <p:sp>
        <p:nvSpPr>
          <p:cNvPr id="244" name="Shape 5">
            <a:extLst xmlns:a="http://schemas.openxmlformats.org/drawingml/2006/main">
              <a:ext uri="{FF2B5EF4-FFF2-40B4-BE49-F238E27FC236}">
                <a16:creationId xmlns:a16="http://schemas.microsoft.com/office/drawing/2014/main" id="{BC25D237-3DDA-46A5-95C5-E4B85933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5" name="Shape 6">
            <a:extLst xmlns:a="http://schemas.openxmlformats.org/drawingml/2006/main">
              <a:ext uri="{FF2B5EF4-FFF2-40B4-BE49-F238E27FC236}">
                <a16:creationId xmlns:a16="http://schemas.microsoft.com/office/drawing/2014/main" id="{FBB739F4-75EB-4A28-9183-6F1BAAF2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466975"/>
            <a:ext cx="1523108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2458FF">
              <a:alpha val="10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6" name="Text 7">
            <a:extLst xmlns:a="http://schemas.openxmlformats.org/drawingml/2006/main">
              <a:ext uri="{FF2B5EF4-FFF2-40B4-BE49-F238E27FC236}">
                <a16:creationId xmlns:a16="http://schemas.microsoft.com/office/drawing/2014/main" id="{31E6E61B-9EC8-4F21-9810-9FECF490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142785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2458F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ORIGEN ON-PREMISE</a:t>
            </a:r>
          </a:p>
        </p:txBody>
      </p:sp>
      <p:sp>
        <p:nvSpPr>
          <p:cNvPr id="247" name="Text 8">
            <a:extLst xmlns:a="http://schemas.openxmlformats.org/drawingml/2006/main">
              <a:ext uri="{FF2B5EF4-FFF2-40B4-BE49-F238E27FC236}">
                <a16:creationId xmlns:a16="http://schemas.microsoft.com/office/drawing/2014/main" id="{72966C82-3C2B-448B-953D-5B5DC6F3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771180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ECC–SLT</a:t>
            </a:r>
          </a:p>
        </p:txBody>
      </p:sp>
      <p:sp>
        <p:nvSpPr>
          <p:cNvPr id="248" name="Text 9">
            <a:extLst xmlns:a="http://schemas.openxmlformats.org/drawingml/2006/main">
              <a:ext uri="{FF2B5EF4-FFF2-40B4-BE49-F238E27FC236}">
                <a16:creationId xmlns:a16="http://schemas.microsoft.com/office/drawing/2014/main" id="{998BCE47-7237-45EB-9276-1D688E90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76873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9919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CE1xxxx se replica con DMIS 2018 y se expone como proveedor ODP/OData; SAP BW no participa.</a:t>
            </a:r>
          </a:p>
        </p:txBody>
      </p:sp>
      <p:sp>
        <p:nvSpPr>
          <p:cNvPr id="249" name="Shape 10">
            <a:extLst xmlns:a="http://schemas.openxmlformats.org/drawingml/2006/main">
              <a:ext uri="{FF2B5EF4-FFF2-40B4-BE49-F238E27FC236}">
                <a16:creationId xmlns:a16="http://schemas.microsoft.com/office/drawing/2014/main" id="{1CAD9AA5-8B74-4B4F-89C9-EB551BAE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5383"/>
            <a:ext cx="828675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0" name="Text 11">
            <a:extLst xmlns:a="http://schemas.openxmlformats.org/drawingml/2006/main">
              <a:ext uri="{FF2B5EF4-FFF2-40B4-BE49-F238E27FC236}">
                <a16:creationId xmlns:a16="http://schemas.microsoft.com/office/drawing/2014/main" id="{A1BD6CDE-2CD9-4510-B148-3389A6F4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3958"/>
            <a:ext cx="733425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SAP ECC</a:t>
            </a:r>
          </a:p>
        </p:txBody>
      </p:sp>
      <p:sp>
        <p:nvSpPr>
          <p:cNvPr id="251" name="Shape 12">
            <a:extLst xmlns:a="http://schemas.openxmlformats.org/drawingml/2006/main">
              <a:ext uri="{FF2B5EF4-FFF2-40B4-BE49-F238E27FC236}">
                <a16:creationId xmlns:a16="http://schemas.microsoft.com/office/drawing/2014/main" id="{3DBF057C-5D8F-46DC-AFDD-284A5BE3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45383"/>
            <a:ext cx="1485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2" name="Text 13">
            <a:extLst xmlns:a="http://schemas.openxmlformats.org/drawingml/2006/main">
              <a:ext uri="{FF2B5EF4-FFF2-40B4-BE49-F238E27FC236}">
                <a16:creationId xmlns:a16="http://schemas.microsoft.com/office/drawing/2014/main" id="{318C622C-FCD7-4348-B7CC-F78EC4A3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573958"/>
            <a:ext cx="1390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SAP SLT</a:t>
            </a:r>
          </a:p>
        </p:txBody>
      </p:sp>
      <p:sp>
        <p:nvSpPr>
          <p:cNvPr id="253" name="Shape 14">
            <a:extLst xmlns:a="http://schemas.openxmlformats.org/drawingml/2006/main">
              <a:ext uri="{FF2B5EF4-FFF2-40B4-BE49-F238E27FC236}">
                <a16:creationId xmlns:a16="http://schemas.microsoft.com/office/drawing/2014/main" id="{C0189788-9B01-45B9-BE57-C52AE545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5383"/>
            <a:ext cx="390525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4" name="Text 15">
            <a:extLst xmlns:a="http://schemas.openxmlformats.org/drawingml/2006/main">
              <a:ext uri="{FF2B5EF4-FFF2-40B4-BE49-F238E27FC236}">
                <a16:creationId xmlns:a16="http://schemas.microsoft.com/office/drawing/2014/main" id="{90171159-0620-4116-8256-45744120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73958"/>
            <a:ext cx="295275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ODP</a:t>
            </a:r>
          </a:p>
        </p:txBody>
      </p:sp>
      <p:sp>
        <p:nvSpPr>
          <p:cNvPr id="255" name="Shape 16">
            <a:extLst xmlns:a="http://schemas.openxmlformats.org/drawingml/2006/main">
              <a:ext uri="{FF2B5EF4-FFF2-40B4-BE49-F238E27FC236}">
                <a16:creationId xmlns:a16="http://schemas.microsoft.com/office/drawing/2014/main" id="{27D84C81-AA8E-4D34-A929-69C1B823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545383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6" name="Text 17">
            <a:extLst xmlns:a="http://schemas.openxmlformats.org/drawingml/2006/main">
              <a:ext uri="{FF2B5EF4-FFF2-40B4-BE49-F238E27FC236}">
                <a16:creationId xmlns:a16="http://schemas.microsoft.com/office/drawing/2014/main" id="{50188908-771B-428F-B138-893AEAF7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73958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596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OData</a:t>
            </a:r>
          </a:p>
        </p:txBody>
      </p:sp>
      <p:sp>
        <p:nvSpPr>
          <p:cNvPr id="257" name="Shape 18">
            <a:extLst xmlns:a="http://schemas.openxmlformats.org/drawingml/2006/main">
              <a:ext uri="{FF2B5EF4-FFF2-40B4-BE49-F238E27FC236}">
                <a16:creationId xmlns:a16="http://schemas.microsoft.com/office/drawing/2014/main" id="{DED3FD37-E523-485D-93F1-50FD8133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573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8" name="Text 19">
            <a:extLst xmlns:a="http://schemas.openxmlformats.org/drawingml/2006/main">
              <a:ext uri="{FF2B5EF4-FFF2-40B4-BE49-F238E27FC236}">
                <a16:creationId xmlns:a16="http://schemas.microsoft.com/office/drawing/2014/main" id="{C17C5014-5FCE-4769-8A5F-40F1C062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98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VPN</a:t>
            </a:r>
          </a:p>
        </p:txBody>
      </p:sp>
      <p:sp>
        <p:nvSpPr>
          <p:cNvPr id="259" name="Shape 20">
            <a:extLst xmlns:a="http://schemas.openxmlformats.org/drawingml/2006/main">
              <a:ext uri="{FF2B5EF4-FFF2-40B4-BE49-F238E27FC236}">
                <a16:creationId xmlns:a16="http://schemas.microsoft.com/office/drawing/2014/main" id="{D990BEC9-9288-4EB3-AA5E-4582EB0C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47900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0" name="Shape 21">
            <a:extLst xmlns:a="http://schemas.openxmlformats.org/drawingml/2006/main">
              <a:ext uri="{FF2B5EF4-FFF2-40B4-BE49-F238E27FC236}">
                <a16:creationId xmlns:a16="http://schemas.microsoft.com/office/drawing/2014/main" id="{0393E0FD-E045-422A-9002-21995807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66975"/>
            <a:ext cx="1147614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00AFCB">
              <a:alpha val="12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1" name="Text 22">
            <a:extLst xmlns:a="http://schemas.openxmlformats.org/drawingml/2006/main">
              <a:ext uri="{FF2B5EF4-FFF2-40B4-BE49-F238E27FC236}">
                <a16:creationId xmlns:a16="http://schemas.microsoft.com/office/drawing/2014/main" id="{B08287AE-804D-4A6E-9FCA-760BEBB4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95550"/>
            <a:ext cx="1052364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00AFCB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INGESTA</a:t>
            </a:r>
          </a:p>
        </p:txBody>
      </p:sp>
      <p:sp>
        <p:nvSpPr>
          <p:cNvPr id="262" name="Text 23">
            <a:extLst xmlns:a="http://schemas.openxmlformats.org/drawingml/2006/main">
              <a:ext uri="{FF2B5EF4-FFF2-40B4-BE49-F238E27FC236}">
                <a16:creationId xmlns:a16="http://schemas.microsoft.com/office/drawing/2014/main" id="{A98DCF15-0CA9-43E4-A37B-82E5A07D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71180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AppFlow → S3 Landing</a:t>
            </a:r>
          </a:p>
        </p:txBody>
      </p:sp>
      <p:sp>
        <p:nvSpPr>
          <p:cNvPr id="263" name="Text 24">
            <a:extLst xmlns:a="http://schemas.openxmlformats.org/drawingml/2006/main">
              <a:ext uri="{FF2B5EF4-FFF2-40B4-BE49-F238E27FC236}">
                <a16:creationId xmlns:a16="http://schemas.microsoft.com/office/drawing/2014/main" id="{39B9F185-3D3B-4EA5-AC31-6202483D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76873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9132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carga inicial se particiona; luego AppFlow procesa deltas horarios y conserva originales para auditoría.</a:t>
            </a:r>
          </a:p>
        </p:txBody>
      </p:sp>
      <p:sp>
        <p:nvSpPr>
          <p:cNvPr id="264" name="Shape 25">
            <a:extLst xmlns:a="http://schemas.openxmlformats.org/drawingml/2006/main">
              <a:ext uri="{FF2B5EF4-FFF2-40B4-BE49-F238E27FC236}">
                <a16:creationId xmlns:a16="http://schemas.microsoft.com/office/drawing/2014/main" id="{1B504B68-199A-4C29-AE10-40FD319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5383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5" name="Text 26">
            <a:extLst xmlns:a="http://schemas.openxmlformats.org/drawingml/2006/main">
              <a:ext uri="{FF2B5EF4-FFF2-40B4-BE49-F238E27FC236}">
                <a16:creationId xmlns:a16="http://schemas.microsoft.com/office/drawing/2014/main" id="{C8B62ED3-62F1-4F31-9D05-30C0E6EB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73958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42239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AppFlow</a:t>
            </a:r>
          </a:p>
        </p:txBody>
      </p:sp>
      <p:sp>
        <p:nvSpPr>
          <p:cNvPr id="266" name="Shape 27">
            <a:extLst xmlns:a="http://schemas.openxmlformats.org/drawingml/2006/main">
              <a:ext uri="{FF2B5EF4-FFF2-40B4-BE49-F238E27FC236}">
                <a16:creationId xmlns:a16="http://schemas.microsoft.com/office/drawing/2014/main" id="{7F0347AA-4D33-4CFA-9C4F-DBADCA03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8899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7" name="Text 28">
            <a:extLst xmlns:a="http://schemas.openxmlformats.org/drawingml/2006/main">
              <a:ext uri="{FF2B5EF4-FFF2-40B4-BE49-F238E27FC236}">
                <a16:creationId xmlns:a16="http://schemas.microsoft.com/office/drawing/2014/main" id="{DC5ACF4A-DABE-4FE8-81FF-48D0B9EC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4624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S3</a:t>
            </a:r>
          </a:p>
        </p:txBody>
      </p:sp>
      <p:sp>
        <p:nvSpPr>
          <p:cNvPr id="268" name="Shape 29">
            <a:extLst xmlns:a="http://schemas.openxmlformats.org/drawingml/2006/main">
              <a:ext uri="{FF2B5EF4-FFF2-40B4-BE49-F238E27FC236}">
                <a16:creationId xmlns:a16="http://schemas.microsoft.com/office/drawing/2014/main" id="{E077E5E7-FBD4-46E8-8C54-91AE45E9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574" y="3545383"/>
            <a:ext cx="1047751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9" name="Text 30">
            <a:extLst xmlns:a="http://schemas.openxmlformats.org/drawingml/2006/main">
              <a:ext uri="{FF2B5EF4-FFF2-40B4-BE49-F238E27FC236}">
                <a16:creationId xmlns:a16="http://schemas.microsoft.com/office/drawing/2014/main" id="{FBB401E5-0B39-4623-9665-700180EB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99" y="3573958"/>
            <a:ext cx="952501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Parquet</a:t>
            </a:r>
          </a:p>
        </p:txBody>
      </p:sp>
      <p:sp>
        <p:nvSpPr>
          <p:cNvPr id="270" name="Shape 31">
            <a:extLst xmlns:a="http://schemas.openxmlformats.org/drawingml/2006/main">
              <a:ext uri="{FF2B5EF4-FFF2-40B4-BE49-F238E27FC236}">
                <a16:creationId xmlns:a16="http://schemas.microsoft.com/office/drawing/2014/main" id="{F39B4764-6C48-44AE-81FB-62E2B69A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474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1" name="Text 32">
            <a:extLst xmlns:a="http://schemas.openxmlformats.org/drawingml/2006/main">
              <a:ext uri="{FF2B5EF4-FFF2-40B4-BE49-F238E27FC236}">
                <a16:creationId xmlns:a16="http://schemas.microsoft.com/office/drawing/2014/main" id="{21596E3D-1757-40FA-9DE9-4AAFF239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199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IAM</a:t>
            </a:r>
          </a:p>
        </p:txBody>
      </p:sp>
      <p:sp>
        <p:nvSpPr>
          <p:cNvPr id="272" name="Shape 33">
            <a:extLst xmlns:a="http://schemas.openxmlformats.org/drawingml/2006/main">
              <a:ext uri="{FF2B5EF4-FFF2-40B4-BE49-F238E27FC236}">
                <a16:creationId xmlns:a16="http://schemas.microsoft.com/office/drawing/2014/main" id="{B2ECAE17-B3E4-4C80-9E15-6CD25B96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3757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3" name="Shape 34">
            <a:extLst xmlns:a="http://schemas.openxmlformats.org/drawingml/2006/main">
              <a:ext uri="{FF2B5EF4-FFF2-40B4-BE49-F238E27FC236}">
                <a16:creationId xmlns:a16="http://schemas.microsoft.com/office/drawing/2014/main" id="{B0019E63-3F35-4562-91CC-1A8762FC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332832"/>
            <a:ext cx="1147614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00AFCB">
              <a:alpha val="12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4" name="Text 35">
            <a:extLst xmlns:a="http://schemas.openxmlformats.org/drawingml/2006/main">
              <a:ext uri="{FF2B5EF4-FFF2-40B4-BE49-F238E27FC236}">
                <a16:creationId xmlns:a16="http://schemas.microsoft.com/office/drawing/2014/main" id="{6A97F83E-4FE6-4E4F-86BC-4502D86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1407"/>
            <a:ext cx="1052364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00AFCB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PROCESAMIENTO</a:t>
            </a:r>
          </a:p>
        </p:txBody>
      </p:sp>
      <p:sp>
        <p:nvSpPr>
          <p:cNvPr id="275" name="Text 36">
            <a:extLst xmlns:a="http://schemas.openxmlformats.org/drawingml/2006/main">
              <a:ext uri="{FF2B5EF4-FFF2-40B4-BE49-F238E27FC236}">
                <a16:creationId xmlns:a16="http://schemas.microsoft.com/office/drawing/2014/main" id="{C9064306-C00D-46B4-BF8A-5CC4BD97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37037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ETL</a:t>
            </a:r>
          </a:p>
        </p:txBody>
      </p:sp>
      <p:sp>
        <p:nvSpPr>
          <p:cNvPr id="276" name="Text 37">
            <a:extLst xmlns:a="http://schemas.openxmlformats.org/drawingml/2006/main">
              <a:ext uri="{FF2B5EF4-FFF2-40B4-BE49-F238E27FC236}">
                <a16:creationId xmlns:a16="http://schemas.microsoft.com/office/drawing/2014/main" id="{0B9C90DF-859F-435D-B893-F718AB7C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42730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8223" lnSpcReduction="0"/>
          </a:bodyPr>
          <a:lstStyle xmlns:a="http://schemas.openxmlformats.org/drawingml/2006/main">
            <a:lvl1pPr defTabSz="896111">
              <a:lnSpc>
                <a:spcPct val="140000"/>
              </a:lnSpc>
              <a:buNone/>
              <a:defRPr sz="98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Workers privados validan y transforman particiones; Curated desacopla el reproceso de la base analítica.</a:t>
            </a:r>
          </a:p>
        </p:txBody>
      </p:sp>
      <p:sp>
        <p:nvSpPr>
          <p:cNvPr id="277" name="Shape 38">
            <a:extLst xmlns:a="http://schemas.openxmlformats.org/drawingml/2006/main">
              <a:ext uri="{FF2B5EF4-FFF2-40B4-BE49-F238E27FC236}">
                <a16:creationId xmlns:a16="http://schemas.microsoft.com/office/drawing/2014/main" id="{198EF34B-3D55-457B-9911-469D0E9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411242"/>
            <a:ext cx="1193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8" name="Text 39">
            <a:extLst xmlns:a="http://schemas.openxmlformats.org/drawingml/2006/main">
              <a:ext uri="{FF2B5EF4-FFF2-40B4-BE49-F238E27FC236}">
                <a16:creationId xmlns:a16="http://schemas.microsoft.com/office/drawing/2014/main" id="{E440ABF7-35C2-4574-A6E2-BC1F979F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39817"/>
            <a:ext cx="1098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</a:t>
            </a:r>
          </a:p>
        </p:txBody>
      </p:sp>
      <p:sp>
        <p:nvSpPr>
          <p:cNvPr id="279" name="Shape 40">
            <a:extLst xmlns:a="http://schemas.openxmlformats.org/drawingml/2006/main">
              <a:ext uri="{FF2B5EF4-FFF2-40B4-BE49-F238E27FC236}">
                <a16:creationId xmlns:a16="http://schemas.microsoft.com/office/drawing/2014/main" id="{F6E3E72F-A88F-42A5-8ADA-BC9CB992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324" y="5411242"/>
            <a:ext cx="68267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0" name="Text 41">
            <a:extLst xmlns:a="http://schemas.openxmlformats.org/drawingml/2006/main">
              <a:ext uri="{FF2B5EF4-FFF2-40B4-BE49-F238E27FC236}">
                <a16:creationId xmlns:a16="http://schemas.microsoft.com/office/drawing/2014/main" id="{2CA94F20-F58F-4F22-A743-04227A6D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049" y="5439817"/>
            <a:ext cx="58742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Auto Scaling</a:t>
            </a:r>
          </a:p>
        </p:txBody>
      </p:sp>
      <p:sp>
        <p:nvSpPr>
          <p:cNvPr id="281" name="Shape 42">
            <a:extLst xmlns:a="http://schemas.openxmlformats.org/drawingml/2006/main">
              <a:ext uri="{FF2B5EF4-FFF2-40B4-BE49-F238E27FC236}">
                <a16:creationId xmlns:a16="http://schemas.microsoft.com/office/drawing/2014/main" id="{E7097838-B3F5-4E5D-A50D-7689CF5F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14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2" name="Text 43">
            <a:extLst xmlns:a="http://schemas.openxmlformats.org/drawingml/2006/main">
              <a:ext uri="{FF2B5EF4-FFF2-40B4-BE49-F238E27FC236}">
                <a16:creationId xmlns:a16="http://schemas.microsoft.com/office/drawing/2014/main" id="{FE5ECBAF-0034-4F02-9ED3-E169CD6A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87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S3</a:t>
            </a:r>
          </a:p>
        </p:txBody>
      </p:sp>
      <p:sp>
        <p:nvSpPr>
          <p:cNvPr id="283" name="Shape 44">
            <a:extLst xmlns:a="http://schemas.openxmlformats.org/drawingml/2006/main">
              <a:ext uri="{FF2B5EF4-FFF2-40B4-BE49-F238E27FC236}">
                <a16:creationId xmlns:a16="http://schemas.microsoft.com/office/drawing/2014/main" id="{01070DB3-7FA8-4796-AA76-D44ECA1E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823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4" name="Text 45">
            <a:extLst xmlns:a="http://schemas.openxmlformats.org/drawingml/2006/main">
              <a:ext uri="{FF2B5EF4-FFF2-40B4-BE49-F238E27FC236}">
                <a16:creationId xmlns:a16="http://schemas.microsoft.com/office/drawing/2014/main" id="{DCE1EBFD-79EE-4B08-81D9-1DBE870C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548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KMS</a:t>
            </a:r>
          </a:p>
        </p:txBody>
      </p:sp>
      <p:sp>
        <p:nvSpPr>
          <p:cNvPr id="285" name="Shape 46">
            <a:extLst xmlns:a="http://schemas.openxmlformats.org/drawingml/2006/main">
              <a:ext uri="{FF2B5EF4-FFF2-40B4-BE49-F238E27FC236}">
                <a16:creationId xmlns:a16="http://schemas.microsoft.com/office/drawing/2014/main" id="{4CA23EC8-9BD6-47B6-9AFB-8F245783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113757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6" name="Shape 47">
            <a:extLst xmlns:a="http://schemas.openxmlformats.org/drawingml/2006/main">
              <a:ext uri="{FF2B5EF4-FFF2-40B4-BE49-F238E27FC236}">
                <a16:creationId xmlns:a16="http://schemas.microsoft.com/office/drawing/2014/main" id="{03A2DD9D-E5D5-488F-8D3D-48654A64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32832"/>
            <a:ext cx="1523108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2458FF">
              <a:alpha val="10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7" name="Text 48">
            <a:extLst xmlns:a="http://schemas.openxmlformats.org/drawingml/2006/main">
              <a:ext uri="{FF2B5EF4-FFF2-40B4-BE49-F238E27FC236}">
                <a16:creationId xmlns:a16="http://schemas.microsoft.com/office/drawing/2014/main" id="{176E34E2-FFEA-4669-84E7-377FEC3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361407"/>
            <a:ext cx="142785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2458F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CONSUMO</a:t>
            </a:r>
          </a:p>
        </p:txBody>
      </p:sp>
      <p:sp>
        <p:nvSpPr>
          <p:cNvPr id="288" name="Text 49">
            <a:extLst xmlns:a="http://schemas.openxmlformats.org/drawingml/2006/main">
              <a:ext uri="{FF2B5EF4-FFF2-40B4-BE49-F238E27FC236}">
                <a16:creationId xmlns:a16="http://schemas.microsoft.com/office/drawing/2014/main" id="{870FC6BF-2432-4028-B72D-0D2217C5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37037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+ BI</a:t>
            </a:r>
          </a:p>
        </p:txBody>
      </p:sp>
      <p:sp>
        <p:nvSpPr>
          <p:cNvPr id="289" name="Text 50">
            <a:extLst xmlns:a="http://schemas.openxmlformats.org/drawingml/2006/main">
              <a:ext uri="{FF2B5EF4-FFF2-40B4-BE49-F238E27FC236}">
                <a16:creationId xmlns:a16="http://schemas.microsoft.com/office/drawing/2014/main" id="{B1DCF016-1016-459A-AE50-5AF49E78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42730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8223" lnSpcReduction="0"/>
          </a:bodyPr>
          <a:lstStyle xmlns:a="http://schemas.openxmlformats.org/drawingml/2006/main">
            <a:lvl1pPr defTabSz="896111">
              <a:lnSpc>
                <a:spcPct val="140000"/>
              </a:lnSpc>
              <a:buNone/>
              <a:defRPr sz="98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PostgreSQL permanece privado; usuarios entran por VPN y Power BI Service usa un gateway con TLS.</a:t>
            </a:r>
          </a:p>
        </p:txBody>
      </p:sp>
      <p:sp>
        <p:nvSpPr>
          <p:cNvPr id="290" name="Shape 51">
            <a:extLst xmlns:a="http://schemas.openxmlformats.org/drawingml/2006/main">
              <a:ext uri="{FF2B5EF4-FFF2-40B4-BE49-F238E27FC236}">
                <a16:creationId xmlns:a16="http://schemas.microsoft.com/office/drawing/2014/main" id="{9A83FF21-907C-4EB5-AA9C-6594E75B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411242"/>
            <a:ext cx="1485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1" name="Text 52">
            <a:extLst xmlns:a="http://schemas.openxmlformats.org/drawingml/2006/main">
              <a:ext uri="{FF2B5EF4-FFF2-40B4-BE49-F238E27FC236}">
                <a16:creationId xmlns:a16="http://schemas.microsoft.com/office/drawing/2014/main" id="{DB2BA7AE-2F93-4A7F-B7AF-E827B44E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439817"/>
            <a:ext cx="1390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</a:t>
            </a:r>
          </a:p>
        </p:txBody>
      </p:sp>
      <p:sp>
        <p:nvSpPr>
          <p:cNvPr id="292" name="Shape 53">
            <a:extLst xmlns:a="http://schemas.openxmlformats.org/drawingml/2006/main">
              <a:ext uri="{FF2B5EF4-FFF2-40B4-BE49-F238E27FC236}">
                <a16:creationId xmlns:a16="http://schemas.microsoft.com/office/drawing/2014/main" id="{ED18E502-8A1D-443F-846D-4BFA23B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411242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3" name="Text 54">
            <a:extLst xmlns:a="http://schemas.openxmlformats.org/drawingml/2006/main">
              <a:ext uri="{FF2B5EF4-FFF2-40B4-BE49-F238E27FC236}">
                <a16:creationId xmlns:a16="http://schemas.microsoft.com/office/drawing/2014/main" id="{22414B24-192E-4F18-9D55-51C22D5C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439817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44648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Multi-AZ</a:t>
            </a:r>
          </a:p>
        </p:txBody>
      </p:sp>
      <p:sp>
        <p:nvSpPr>
          <p:cNvPr id="294" name="Shape 55">
            <a:extLst xmlns:a="http://schemas.openxmlformats.org/drawingml/2006/main">
              <a:ext uri="{FF2B5EF4-FFF2-40B4-BE49-F238E27FC236}">
                <a16:creationId xmlns:a16="http://schemas.microsoft.com/office/drawing/2014/main" id="{CADA1321-F51B-4438-B61F-D7880E8D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194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5" name="Text 56">
            <a:extLst xmlns:a="http://schemas.openxmlformats.org/drawingml/2006/main">
              <a:ext uri="{FF2B5EF4-FFF2-40B4-BE49-F238E27FC236}">
                <a16:creationId xmlns:a16="http://schemas.microsoft.com/office/drawing/2014/main" id="{918AB26C-5A06-4AD2-B0B2-F6A04B8F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767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60848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</a:t>
            </a:r>
          </a:p>
        </p:txBody>
      </p:sp>
      <p:sp>
        <p:nvSpPr>
          <p:cNvPr id="296" name="Shape 57">
            <a:extLst xmlns:a="http://schemas.openxmlformats.org/drawingml/2006/main">
              <a:ext uri="{FF2B5EF4-FFF2-40B4-BE49-F238E27FC236}">
                <a16:creationId xmlns:a16="http://schemas.microsoft.com/office/drawing/2014/main" id="{2E7617CE-25B9-4496-846C-237260B1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9624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7" name="Text 58">
            <a:extLst xmlns:a="http://schemas.openxmlformats.org/drawingml/2006/main">
              <a:ext uri="{FF2B5EF4-FFF2-40B4-BE49-F238E27FC236}">
                <a16:creationId xmlns:a16="http://schemas.microsoft.com/office/drawing/2014/main" id="{C321DF67-EB91-430B-8A7B-1C3C1965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349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TLS</a:t>
            </a:r>
          </a:p>
        </p:txBody>
      </p:sp>
      <p:sp>
        <p:nvSpPr>
          <p:cNvPr id="298" name="Shape 59">
            <a:extLst xmlns:a="http://schemas.openxmlformats.org/drawingml/2006/main">
              <a:ext uri="{FF2B5EF4-FFF2-40B4-BE49-F238E27FC236}">
                <a16:creationId xmlns:a16="http://schemas.microsoft.com/office/drawing/2014/main" id="{F440343B-A8B9-4A50-BCA2-E8335C0A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29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9" name="Text 60">
            <a:extLst xmlns:a="http://schemas.openxmlformats.org/drawingml/2006/main">
              <a:ext uri="{FF2B5EF4-FFF2-40B4-BE49-F238E27FC236}">
                <a16:creationId xmlns:a16="http://schemas.microsoft.com/office/drawing/2014/main" id="{0D1ED65E-2BC6-4D8A-9695-B193E074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2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BI</a:t>
            </a:r>
          </a:p>
        </p:txBody>
      </p:sp>
      <p:sp>
        <p:nvSpPr>
          <p:cNvPr id="300" name="Text 61">
            <a:extLst xmlns:a="http://schemas.openxmlformats.org/drawingml/2006/main">
              <a:ext uri="{FF2B5EF4-FFF2-40B4-BE49-F238E27FC236}">
                <a16:creationId xmlns:a16="http://schemas.microsoft.com/office/drawing/2014/main" id="{A8B73CF1-39AF-47E3-81D0-FCAD94C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5632802" cy="2095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7160" lnSpcReduction="0"/>
          </a:bodyPr>
          <a:lstStyle xmlns:a="http://schemas.openxmlformats.org/drawingml/2006/main">
            <a:lvl1pPr>
              <a:lnSpc>
                <a:spcPct val="150000"/>
              </a:lnSpc>
              <a:buNone/>
              <a:defRPr sz="9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Landing preserva; Curated valida; RDS sirve. La conectividad privada atraviesa todo el diseño.</a:t>
            </a:r>
          </a:p>
        </p:txBody>
      </p:sp>
      <p:sp>
        <p:nvSpPr>
          <p:cNvPr id="301" name="Text 62">
            <a:extLst xmlns:a="http://schemas.openxmlformats.org/drawingml/2006/main">
              <a:ext uri="{FF2B5EF4-FFF2-40B4-BE49-F238E27FC236}">
                <a16:creationId xmlns:a16="http://schemas.microsoft.com/office/drawing/2014/main" id="{DDC0C69F-BF51-4C42-A883-8608C46D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99892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arquitectura</a:t>
            </a:r>
          </a:p>
        </p:txBody>
      </p:sp>
      <p:sp>
        <p:nvSpPr>
          <p:cNvPr id="302" name="Text 63">
            <a:extLst xmlns:a="http://schemas.openxmlformats.org/drawingml/2006/main">
              <a:ext uri="{FF2B5EF4-FFF2-40B4-BE49-F238E27FC236}">
                <a16:creationId xmlns:a16="http://schemas.microsoft.com/office/drawing/2014/main" id="{B4631AFC-3676-4771-82F8-9CAE9546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833768c3044b2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3718026e54089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29e8cbef4d4931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24902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737/MES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24902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Calculator 700,04 + VPN 36,50 · On-Demand us-east-1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736,54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8.838,48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dos gateways Windows, VPN, S3, AppFlow, KMS, secretos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78,8 %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454,06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555f2dcbb4ed8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2026-08-11T03:01:16.5510000Z</dcterms:created>
  <dcterms:modified xsi:type="dcterms:W3CDTF">2026-08-11T03:01:16.5510000Z</dcterms:modified>
</coreProperties>
</file>