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140b11feb54758" /><Relationship Type="http://schemas.openxmlformats.org/officeDocument/2006/relationships/extended-properties" Target="/docProps/app.xml" Id="R9df5744c4dfd472c" /><Relationship Type="http://schemas.openxmlformats.org/officeDocument/2006/relationships/officeDocument" Target="/ppt/presentation.xml" Id="R312ee3260aa749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a3e45a88a84a61"/>
  </p:sldMasterIdLst>
  <p:notesMasterIdLst>
    <p:notesMasterId xmlns:r="http://schemas.openxmlformats.org/officeDocument/2006/relationships" r:id="R3fef9673e4f54342"/>
  </p:notesMasterIdLst>
  <p:sldIdLst>
    <p:sldId xmlns:r="http://schemas.openxmlformats.org/officeDocument/2006/relationships" id="256" r:id="R3ef25245cbf74806"/>
    <p:sldId xmlns:r="http://schemas.openxmlformats.org/officeDocument/2006/relationships" id="257" r:id="R987db5bd5da64763"/>
    <p:sldId xmlns:r="http://schemas.openxmlformats.org/officeDocument/2006/relationships" id="258" r:id="R19b2186cf36040b5"/>
    <p:sldId xmlns:r="http://schemas.openxmlformats.org/officeDocument/2006/relationships" id="259" r:id="Reef16448d63a4ea5"/>
    <p:sldId xmlns:r="http://schemas.openxmlformats.org/officeDocument/2006/relationships" id="260" r:id="Ra61b40fee8bd4329"/>
    <p:sldId xmlns:r="http://schemas.openxmlformats.org/officeDocument/2006/relationships" id="261" r:id="Rbf9d1cf1885b4269"/>
    <p:sldId xmlns:r="http://schemas.openxmlformats.org/officeDocument/2006/relationships" id="262" r:id="R5d8ae123f6a74efa"/>
    <p:sldId xmlns:r="http://schemas.openxmlformats.org/officeDocument/2006/relationships" id="263" r:id="Rabe0ea3b8b624e5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7212e9ddcc4d75" /><Relationship Type="http://schemas.openxmlformats.org/officeDocument/2006/relationships/slideMaster" Target="/ppt/slideMasters/slideMaster1.xml" Id="R5ca3e45a88a84a61" /><Relationship Type="http://schemas.openxmlformats.org/officeDocument/2006/relationships/notesMaster" Target="/ppt/notesMasters/notesMaster1.xml" Id="R3fef9673e4f54342" /><Relationship Type="http://schemas.openxmlformats.org/officeDocument/2006/relationships/presProps" Target="/ppt/presProps.xml" Id="Rfd16d63908954ad7" /><Relationship Type="http://schemas.openxmlformats.org/officeDocument/2006/relationships/tableStyles" Target="/ppt/tableStyles.xml" Id="R6ca1a45e9c504e8b" /><Relationship Type="http://schemas.openxmlformats.org/officeDocument/2006/relationships/slide" Target="/ppt/slides/slide1.xml" Id="R3ef25245cbf74806" /><Relationship Type="http://schemas.openxmlformats.org/officeDocument/2006/relationships/slide" Target="/ppt/slides/slide2.xml" Id="R987db5bd5da64763" /><Relationship Type="http://schemas.openxmlformats.org/officeDocument/2006/relationships/slide" Target="/ppt/slides/slide3.xml" Id="R19b2186cf36040b5" /><Relationship Type="http://schemas.openxmlformats.org/officeDocument/2006/relationships/slide" Target="/ppt/slides/slide4.xml" Id="Reef16448d63a4ea5" /><Relationship Type="http://schemas.openxmlformats.org/officeDocument/2006/relationships/slide" Target="/ppt/slides/slide5.xml" Id="Ra61b40fee8bd4329" /><Relationship Type="http://schemas.openxmlformats.org/officeDocument/2006/relationships/slide" Target="/ppt/slides/slide6.xml" Id="Rbf9d1cf1885b4269" /><Relationship Type="http://schemas.openxmlformats.org/officeDocument/2006/relationships/slide" Target="/ppt/slides/slide7.xml" Id="R5d8ae123f6a74efa" /><Relationship Type="http://schemas.openxmlformats.org/officeDocument/2006/relationships/slide" Target="/ppt/slides/slide8.xml" Id="Rabe0ea3b8b624e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45a094d5d4e4f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b0871b223d4fff" /><Relationship Type="http://schemas.openxmlformats.org/officeDocument/2006/relationships/notesMaster" Target="/ppt/notesMasters/notesMaster1.xml" Id="R8c20a7fca2aa41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1f302d57e14e30" /><Relationship Type="http://schemas.openxmlformats.org/officeDocument/2006/relationships/notesMaster" Target="/ppt/notesMasters/notesMaster1.xml" Id="R8561cf61e10949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5a9df073124ec3" /><Relationship Type="http://schemas.openxmlformats.org/officeDocument/2006/relationships/notesMaster" Target="/ppt/notesMasters/notesMaster1.xml" Id="R1484c6b863084e8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b2636535f045e0" /><Relationship Type="http://schemas.openxmlformats.org/officeDocument/2006/relationships/notesMaster" Target="/ppt/notesMasters/notesMaster1.xml" Id="R541ed23885634d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c99d3ee2ce444b" /><Relationship Type="http://schemas.openxmlformats.org/officeDocument/2006/relationships/notesMaster" Target="/ppt/notesMasters/notesMaster1.xml" Id="Refe3ebf22c6041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a4f6409a1844d21" /><Relationship Type="http://schemas.openxmlformats.org/officeDocument/2006/relationships/notesMaster" Target="/ppt/notesMasters/notesMaster1.xml" Id="Rfada367a23cb44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40e284756c4ad5" /><Relationship Type="http://schemas.openxmlformats.org/officeDocument/2006/relationships/notesMaster" Target="/ppt/notesMasters/notesMaster1.xml" Id="R6380bbba636b4d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5c4d273aba46a7" /><Relationship Type="http://schemas.openxmlformats.org/officeDocument/2006/relationships/notesMaster" Target="/ppt/notesMasters/notesMaster1.xml" Id="R8d21a305fca045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sources/Proyecto Final (migracion Cloud).pptx (template visual)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docs/security.md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arquitectura v4 diferencia S3 Landing y S3 Curated del S3 Gateway Endpoint, además de incorporar endpoints privados, egress restringido y backend remoto de Terraform.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outputs/arquitectura-sap-erp-slt-aws-consumo-v4.png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iac/networking.tf</a:t>
            </a:r>
          </a:p>
          <a:p xmlns:a="http://schemas.openxmlformats.org/drawingml/2006/main">
            <a:r>
              <a:t>- https://docs.aws.amazon.com/vpc/latest/privatelink/gateway-endpoints.html</a:t>
            </a:r>
          </a:p>
          <a:p xmlns:a="http://schemas.openxmlformats.org/drawingml/2006/main">
            <a:r>
              <a:t>- https://aws.amazon.com/privatelink/pricing/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docs/sizing.md</a:t>
            </a:r>
          </a:p>
          <a:p xmlns:a="http://schemas.openxmlformats.org/drawingml/2006/main">
            <a:r>
              <a:t>- docs/security.md</a:t>
            </a:r>
          </a:p>
          <a:p xmlns:a="http://schemas.openxmlformats.org/drawingml/2006/main">
            <a:r>
              <a:t>- AWS AppFlow and RDS official documentation linked in those files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docs/migration-plan.md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docs/cost-estimate.md</a:t>
            </a:r>
          </a:p>
          <a:p xmlns:a="http://schemas.openxmlformats.org/drawingml/2006/main">
            <a:r>
              <a:t>- costs/aws-us-east-1.json</a:t>
            </a:r>
          </a:p>
          <a:p xmlns:a="http://schemas.openxmlformats.org/drawingml/2006/main">
            <a:r>
              <a:t>- https://calculator.aws/</a:t>
            </a:r>
          </a:p>
          <a:p xmlns:a="http://schemas.openxmlformats.org/drawingml/2006/main">
            <a:r>
              <a:t>[Sources]
- https://aws.amazon.com/privatelink/pricing/
- https://docs.aws.amazon.com/vpc/latest/privatelink/gateway-endpoints.html
- costs/aws-us-east-1.json (verificado 2026-08-16)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scripts/check.sh</a:t>
            </a:r>
          </a:p>
          <a:p xmlns:a="http://schemas.openxmlformats.org/drawingml/2006/main">
            <a:r>
              <a:t>- tests/</a:t>
            </a:r>
          </a:p>
          <a:p xmlns:a="http://schemas.openxmlformats.org/drawingml/2006/main">
            <a:r>
              <a:t>- iac/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920f9f45cb49f3" /></Relationships>
</file>

<file path=ppt/slideLayouts/slideLayout1.xml><?xml version="1.0" encoding="utf-8"?>
<p:sldLayout xmlns:p="http://schemas.openxmlformats.org/presentationml/2006/main" showMasterSp="1" showMasterPhAnim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CC315BE-5C81-4A5A-BEC1-8B083C16B113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7758520e6141d1" /><Relationship Type="http://schemas.openxmlformats.org/officeDocument/2006/relationships/slideLayout" Target="/ppt/slideLayouts/slideLayout1.xml" Id="R36e14c06be1347b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Text">
            <a:extLst xmlns:a="http://schemas.openxmlformats.org/drawingml/2006/main">
              <a:ext uri="{FF2B5EF4-FFF2-40B4-BE49-F238E27FC236}">
                <a16:creationId xmlns:a16="http://schemas.microsoft.com/office/drawing/2014/main" id="{479A625D-DCA6-433D-A722-9274152F6B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92074"/>
            <a:ext cx="10972800" cy="15081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>
              <a:buNone/>
            </a:pPr>
            <a:r>
              <a:t>Title Text</a:t>
            </a:r>
          </a:p>
        </p:txBody>
      </p:sp>
      <p:sp>
        <p:nvSpPr>
          <p:cNvPr id="3" name="Body Level One…">
            <a:extLst xmlns:a="http://schemas.openxmlformats.org/drawingml/2006/main">
              <a:ext uri="{FF2B5EF4-FFF2-40B4-BE49-F238E27FC236}">
                <a16:creationId xmlns:a16="http://schemas.microsoft.com/office/drawing/2014/main" id="{64F2E089-90B6-46B3-A3EE-C65717E3E4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0"/>
            <a:ext cx="10972800" cy="5257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  <a:r>
              <a:t>Body Level One</a:t>
            </a:r>
          </a:p>
          <a:p xmlns:a="http://schemas.openxmlformats.org/drawingml/2006/main">
            <a:pPr lvl="1">
              <a:buNone/>
            </a:pPr>
            <a:r>
              <a:t>Body Level Two</a:t>
            </a:r>
          </a:p>
          <a:p xmlns:a="http://schemas.openxmlformats.org/drawingml/2006/main">
            <a:pPr lvl="2">
              <a:buNone/>
            </a:pPr>
            <a:r>
              <a:t>Body Level Three</a:t>
            </a:r>
          </a:p>
          <a:p xmlns:a="http://schemas.openxmlformats.org/drawingml/2006/main">
            <a:pPr lvl="3">
              <a:buNone/>
            </a:pPr>
            <a:r>
              <a:t>Body Level Four</a:t>
            </a:r>
          </a:p>
          <a:p xmlns:a="http://schemas.openxmlformats.org/drawingml/2006/main">
            <a:pPr lvl="4">
              <a:buNone/>
            </a:pPr>
            <a:r>
              <a:t>Body Level Five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1E5686B-8A8B-4F3D-8065-ED2285E1576D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5892800" y="6172200"/>
            <a:ext cx="2844800" cy="3683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 sz="1200"/>
            </a:lvl1pPr>
          </a:lstStyle>
          <a:p xmlns:a="http://schemas.openxmlformats.org/drawingml/2006/main">
            <a:pPr>
              <a:buNone/>
            </a:p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e14c06be1347ba"/>
  </p:sldLayoutIdLst>
  <p:txStyles>
    <p:titleStyle>
      <a:lvl1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342900" marR="0" indent="-3429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L="783771" marR="0" indent="-326571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2pPr>
      <a:lvl3pPr xmlns:a="http://schemas.openxmlformats.org/drawingml/2006/main" marL="1219200" marR="0" indent="-3048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3pPr>
      <a:lvl4pPr xmlns:a="http://schemas.openxmlformats.org/drawingml/2006/main" marL="17373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4pPr>
      <a:lvl5pPr xmlns:a="http://schemas.openxmlformats.org/drawingml/2006/main" marL="21945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5pPr>
      <a:lvl6pPr xmlns:a="http://schemas.openxmlformats.org/drawingml/2006/main" marL="26517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6pPr>
      <a:lvl7pPr xmlns:a="http://schemas.openxmlformats.org/drawingml/2006/main" marL="31089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7pPr>
      <a:lvl8pPr xmlns:a="http://schemas.openxmlformats.org/drawingml/2006/main" marL="35661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8pPr>
      <a:lvl9pPr xmlns:a="http://schemas.openxmlformats.org/drawingml/2006/main" marL="40233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457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914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1371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18288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22860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2743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3200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3657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cd88403e404d7d" /><Relationship Type="http://schemas.openxmlformats.org/officeDocument/2006/relationships/image" Target="/ppt/media/image.jpeg" Id="R052f2547e6a44ead" /><Relationship Type="http://schemas.openxmlformats.org/officeDocument/2006/relationships/image" Target="/ppt/media/image.png" Id="R7147f368cfd14a23" /><Relationship Type="http://schemas.openxmlformats.org/officeDocument/2006/relationships/notesSlide" Target="/ppt/notesSlides/notesSlide1.xml" Id="R376fdfea0bd344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6c664f58e4752" /><Relationship Type="http://schemas.openxmlformats.org/officeDocument/2006/relationships/image" Target="/ppt/media/image.jpeg" Id="Re721ed183a804342" /><Relationship Type="http://schemas.openxmlformats.org/officeDocument/2006/relationships/notesSlide" Target="/ppt/notesSlides/notesSlide2.xml" Id="R4a7f9204ac4746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8e10ac89e24334" /><Relationship Type="http://schemas.openxmlformats.org/officeDocument/2006/relationships/image" Target="/ppt/media/image.jpeg" Id="Rbc826c30ed334b0f" /><Relationship Type="http://schemas.openxmlformats.org/officeDocument/2006/relationships/notesSlide" Target="/ppt/notesSlides/notesSlide3.xml" Id="R95e5fc09fd9a44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18f10f9a5d4a16" /><Relationship Type="http://schemas.openxmlformats.org/officeDocument/2006/relationships/image" Target="/ppt/media/image2.png" Id="R1d18badd2c8b4cd5" /><Relationship Type="http://schemas.openxmlformats.org/officeDocument/2006/relationships/notesSlide" Target="/ppt/notesSlides/notesSlide4.xml" Id="R0b4eadc6d1b445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ef7be1a6c64f5b" /><Relationship Type="http://schemas.openxmlformats.org/officeDocument/2006/relationships/image" Target="/ppt/media/image.jpeg" Id="Rebc6579d3f464997" /><Relationship Type="http://schemas.openxmlformats.org/officeDocument/2006/relationships/notesSlide" Target="/ppt/notesSlides/notesSlide5.xml" Id="R038bf0fa167044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026f08fd14a48" /><Relationship Type="http://schemas.openxmlformats.org/officeDocument/2006/relationships/image" Target="/ppt/media/image.jpeg" Id="R06a24d4df1cd4c86" /><Relationship Type="http://schemas.openxmlformats.org/officeDocument/2006/relationships/notesSlide" Target="/ppt/notesSlides/notesSlide6.xml" Id="R9d8849f9a6934a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6386729e7478d" /><Relationship Type="http://schemas.openxmlformats.org/officeDocument/2006/relationships/image" Target="/ppt/media/image.jpeg" Id="R3a901313adce444e" /><Relationship Type="http://schemas.openxmlformats.org/officeDocument/2006/relationships/notesSlide" Target="/ppt/notesSlides/notesSlide7.xml" Id="R75f78802f0c940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07b5f19474195" /><Relationship Type="http://schemas.openxmlformats.org/officeDocument/2006/relationships/image" Target="/ppt/media/image2.jpeg" Id="R99ef24b5b57d41fb" /><Relationship Type="http://schemas.openxmlformats.org/officeDocument/2006/relationships/notesSlide" Target="/ppt/notesSlides/notesSlide8.xml" Id="Ra9a5c1e613424c52" 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hape 0">
            <a:extLst xmlns:a="http://schemas.openxmlformats.org/drawingml/2006/main">
              <a:ext uri="{FF2B5EF4-FFF2-40B4-BE49-F238E27FC236}">
                <a16:creationId xmlns:a16="http://schemas.microsoft.com/office/drawing/2014/main" id="{3AFA719B-FA72-47A6-B0BD-8A34EDF1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f2547e6a44ead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47f368cfd14a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1428750"/>
            <a:ext cx="1257300" cy="12573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3" name="Text 1">
            <a:extLst xmlns:a="http://schemas.openxmlformats.org/drawingml/2006/main">
              <a:ext uri="{FF2B5EF4-FFF2-40B4-BE49-F238E27FC236}">
                <a16:creationId xmlns:a16="http://schemas.microsoft.com/office/drawing/2014/main" id="{D88AF708-9AD8-4C36-AB21-0EA19BF8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7689" y="1675656"/>
            <a:ext cx="2196622" cy="7634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508" lnSpcReduction="0"/>
          </a:bodyPr>
          <a:lstStyle xmlns:a="http://schemas.openxmlformats.org/drawingml/2006/main">
            <a:lvl1pPr>
              <a:lnSpc>
                <a:spcPct val="112000"/>
              </a:lnSpc>
              <a:buNone/>
              <a:defRPr sz="2500">
                <a:solidFill>
                  <a:srgbClr val="111111"/>
                </a:solidFill>
                <a:latin typeface="Ropa Sans Italic"/>
                <a:ea typeface="Ropa Sans Italic"/>
                <a:cs typeface="Ropa Sans Italic"/>
              </a:defRPr>
            </a:lvl1pPr>
          </a:lstStyle>
          <a:p xmlns:a="http://schemas.openxmlformats.org/drawingml/2006/main">
            <a:pPr>
              <a:buNone/>
            </a:pPr>
            <a:r>
              <a:t>PROYECTO FINAL</a:t>
            </a:r>
          </a:p>
        </p:txBody>
      </p:sp>
      <p:sp>
        <p:nvSpPr>
          <p:cNvPr id="24" name="Text 2">
            <a:extLst xmlns:a="http://schemas.openxmlformats.org/drawingml/2006/main">
              <a:ext uri="{FF2B5EF4-FFF2-40B4-BE49-F238E27FC236}">
                <a16:creationId xmlns:a16="http://schemas.microsoft.com/office/drawing/2014/main" id="{854FAC82-80E5-4369-A71B-406B9864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250" y="3216623"/>
            <a:ext cx="3423500" cy="42475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58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2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CO-PA: de ECC a AWS</a:t>
            </a:r>
          </a:p>
        </p:txBody>
      </p:sp>
      <p:sp>
        <p:nvSpPr>
          <p:cNvPr id="25" name="Text 3">
            <a:extLst xmlns:a="http://schemas.openxmlformats.org/drawingml/2006/main">
              <a:ext uri="{FF2B5EF4-FFF2-40B4-BE49-F238E27FC236}">
                <a16:creationId xmlns:a16="http://schemas.microsoft.com/office/drawing/2014/main" id="{695E310E-C3E6-4466-835B-888636A3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8705" y="4215179"/>
            <a:ext cx="3954590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 · Cloud Computing (AWS)</a:t>
            </a:r>
          </a:p>
        </p:txBody>
      </p:sp>
    </p:spTree>
    <p:extLst>
      <p:ext uri="{BB962C8B-B14F-4D97-AF65-F5344CB8AC3E}">
        <p14:creationId xmlns:p14="http://schemas.microsoft.com/office/powerpoint/2010/main" val="548270046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hape 0">
            <a:extLst xmlns:a="http://schemas.openxmlformats.org/drawingml/2006/main">
              <a:ext uri="{FF2B5EF4-FFF2-40B4-BE49-F238E27FC236}">
                <a16:creationId xmlns:a16="http://schemas.microsoft.com/office/drawing/2014/main" id="{465B0A6D-B1AF-4843-99B2-0539644A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21ed183a804342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9" name="Text 1">
            <a:extLst xmlns:a="http://schemas.openxmlformats.org/drawingml/2006/main">
              <a:ext uri="{FF2B5EF4-FFF2-40B4-BE49-F238E27FC236}">
                <a16:creationId xmlns:a16="http://schemas.microsoft.com/office/drawing/2014/main" id="{CBF9B2C2-FCB0-4796-8E41-8C6E61E1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" name="Text 2">
            <a:extLst xmlns:a="http://schemas.openxmlformats.org/drawingml/2006/main">
              <a:ext uri="{FF2B5EF4-FFF2-40B4-BE49-F238E27FC236}">
                <a16:creationId xmlns:a16="http://schemas.microsoft.com/office/drawing/2014/main" id="{61E48FC8-F19B-441A-BA21-34E23ACB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967219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FINAL/LA DECISIÓN</a:t>
            </a:r>
          </a:p>
        </p:txBody>
      </p:sp>
      <p:sp>
        <p:nvSpPr>
          <p:cNvPr id="31" name="Text 3">
            <a:extLst xmlns:a="http://schemas.openxmlformats.org/drawingml/2006/main">
              <a:ext uri="{FF2B5EF4-FFF2-40B4-BE49-F238E27FC236}">
                <a16:creationId xmlns:a16="http://schemas.microsoft.com/office/drawing/2014/main" id="{D6B7F85E-50B4-4A9E-86C7-71450B87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3906"/>
            <a:ext cx="10889933" cy="10682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160" lnSpcReduction="0"/>
          </a:bodyPr>
          <a:lstStyle xmlns:a="http://schemas.openxmlformats.org/drawingml/2006/main"/>
          <a:p xmlns:a="http://schemas.openxmlformats.org/drawingml/2006/main">
            <a:pPr defTabSz="758951">
              <a:lnSpc>
                <a:spcPct val="104000"/>
              </a:lnSpc>
              <a:buNone/>
              <a:defRPr sz="3237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SIGUE ON-PREMISE: LA ANALÍTICA CO-PA SE MUEVE A AWS.</a:t>
            </a:r>
          </a:p>
        </p:txBody>
      </p:sp>
      <p:sp>
        <p:nvSpPr>
          <p:cNvPr id="32" name="Text 4">
            <a:extLst xmlns:a="http://schemas.openxmlformats.org/drawingml/2006/main">
              <a:ext uri="{FF2B5EF4-FFF2-40B4-BE49-F238E27FC236}">
                <a16:creationId xmlns:a16="http://schemas.microsoft.com/office/drawing/2014/main" id="{613CAD24-3FB2-4365-BB6A-FB157248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76800"/>
            <a:ext cx="9908858" cy="84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905255">
              <a:lnSpc>
                <a:spcPct val="135000"/>
              </a:lnSpc>
              <a:buNone/>
              <a:defRPr sz="1485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alcance desacopla extracción, almacenamiento y consumo sin migrar el ERP. SAP SLT publica CO-PA; AWS recibe, transforma y sirve los datos con infraestructura reproducible.</a:t>
            </a:r>
          </a:p>
        </p:txBody>
      </p:sp>
      <p:sp>
        <p:nvSpPr>
          <p:cNvPr id="33" name="Text 6">
            <a:extLst xmlns:a="http://schemas.openxmlformats.org/drawingml/2006/main">
              <a:ext uri="{FF2B5EF4-FFF2-40B4-BE49-F238E27FC236}">
                <a16:creationId xmlns:a16="http://schemas.microsoft.com/office/drawing/2014/main" id="{EFA33075-82E4-49B1-8595-7F3CC5EF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90444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decisión</a:t>
            </a:r>
          </a:p>
        </p:txBody>
      </p:sp>
      <p:sp>
        <p:nvSpPr>
          <p:cNvPr id="34" name="Text 7">
            <a:extLst xmlns:a="http://schemas.openxmlformats.org/drawingml/2006/main">
              <a:ext uri="{FF2B5EF4-FFF2-40B4-BE49-F238E27FC236}">
                <a16:creationId xmlns:a16="http://schemas.microsoft.com/office/drawing/2014/main" id="{F193022A-126D-463E-BC1C-7C9C0A93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2102304786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Shape 0">
            <a:extLst xmlns:a="http://schemas.openxmlformats.org/drawingml/2006/main">
              <a:ext uri="{FF2B5EF4-FFF2-40B4-BE49-F238E27FC236}">
                <a16:creationId xmlns:a16="http://schemas.microsoft.com/office/drawing/2014/main" id="{7E5ACB83-EE4F-4E57-94C0-289605F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6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826c30ed334b0f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8" name="Text 1">
            <a:extLst xmlns:a="http://schemas.openxmlformats.org/drawingml/2006/main">
              <a:ext uri="{FF2B5EF4-FFF2-40B4-BE49-F238E27FC236}">
                <a16:creationId xmlns:a16="http://schemas.microsoft.com/office/drawing/2014/main" id="{2FBDFF82-8152-4A7D-9B6A-9120FEDE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9" name="Text 2">
            <a:extLst xmlns:a="http://schemas.openxmlformats.org/drawingml/2006/main">
              <a:ext uri="{FF2B5EF4-FFF2-40B4-BE49-F238E27FC236}">
                <a16:creationId xmlns:a16="http://schemas.microsoft.com/office/drawing/2014/main" id="{D81EA20A-27D7-4E06-87E9-68ED8ABD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636882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FINAL/ALCANCE</a:t>
            </a:r>
          </a:p>
        </p:txBody>
      </p:sp>
      <p:sp>
        <p:nvSpPr>
          <p:cNvPr id="40" name="Text 3">
            <a:extLst xmlns:a="http://schemas.openxmlformats.org/drawingml/2006/main">
              <a:ext uri="{FF2B5EF4-FFF2-40B4-BE49-F238E27FC236}">
                <a16:creationId xmlns:a16="http://schemas.microsoft.com/office/drawing/2014/main" id="{3DBED1E3-DAF8-4E6A-93F3-DCA5DB77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ALCANCE CO-PA</a:t>
            </a:r>
          </a:p>
        </p:txBody>
      </p:sp>
      <p:sp>
        <p:nvSpPr>
          <p:cNvPr id="41" name="Text 4">
            <a:extLst xmlns:a="http://schemas.openxmlformats.org/drawingml/2006/main">
              <a:ext uri="{FF2B5EF4-FFF2-40B4-BE49-F238E27FC236}">
                <a16:creationId xmlns:a16="http://schemas.microsoft.com/office/drawing/2014/main" id="{E5123B8C-0CD0-41F1-9918-A5315C03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flujo completo se defiende con tiempo, recursos y costos.</a:t>
            </a:r>
          </a:p>
        </p:txBody>
      </p:sp>
      <p:sp>
        <p:nvSpPr>
          <p:cNvPr id="42" name="Shape 5">
            <a:extLst xmlns:a="http://schemas.openxmlformats.org/drawingml/2006/main">
              <a:ext uri="{FF2B5EF4-FFF2-40B4-BE49-F238E27FC236}">
                <a16:creationId xmlns:a16="http://schemas.microsoft.com/office/drawing/2014/main" id="{75696AD5-82EA-4126-86D7-77B24CBB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" name="Shape 6">
            <a:extLst xmlns:a="http://schemas.openxmlformats.org/drawingml/2006/main">
              <a:ext uri="{FF2B5EF4-FFF2-40B4-BE49-F238E27FC236}">
                <a16:creationId xmlns:a16="http://schemas.microsoft.com/office/drawing/2014/main" id="{4C224F44-F86A-440C-8E69-725319D0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4" name="Shape 7">
            <a:extLst xmlns:a="http://schemas.openxmlformats.org/drawingml/2006/main">
              <a:ext uri="{FF2B5EF4-FFF2-40B4-BE49-F238E27FC236}">
                <a16:creationId xmlns:a16="http://schemas.microsoft.com/office/drawing/2014/main" id="{D784B46D-E988-4C14-89FE-54352120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8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5" name="Shape 8">
            <a:extLst xmlns:a="http://schemas.openxmlformats.org/drawingml/2006/main">
              <a:ext uri="{FF2B5EF4-FFF2-40B4-BE49-F238E27FC236}">
                <a16:creationId xmlns:a16="http://schemas.microsoft.com/office/drawing/2014/main" id="{0C3F804D-1D1E-4763-A9AD-53E724C0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6" name="Shape 9">
            <a:extLst xmlns:a="http://schemas.openxmlformats.org/drawingml/2006/main">
              <a:ext uri="{FF2B5EF4-FFF2-40B4-BE49-F238E27FC236}">
                <a16:creationId xmlns:a16="http://schemas.microsoft.com/office/drawing/2014/main" id="{D5277A02-5E32-4A2D-AE78-3BDF5F2A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346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7" name="Text 10">
            <a:extLst xmlns:a="http://schemas.openxmlformats.org/drawingml/2006/main">
              <a:ext uri="{FF2B5EF4-FFF2-40B4-BE49-F238E27FC236}">
                <a16:creationId xmlns:a16="http://schemas.microsoft.com/office/drawing/2014/main" id="{E0883F70-62E1-42EC-845E-854408AB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Permanece on-premise</a:t>
            </a:r>
          </a:p>
        </p:txBody>
      </p:sp>
      <p:sp>
        <p:nvSpPr>
          <p:cNvPr id="48" name="Text 11">
            <a:extLst xmlns:a="http://schemas.openxmlformats.org/drawingml/2006/main">
              <a:ext uri="{FF2B5EF4-FFF2-40B4-BE49-F238E27FC236}">
                <a16:creationId xmlns:a16="http://schemas.microsoft.com/office/drawing/2014/main" id="{3014C03B-82D8-4A78-AA4A-2D5F834B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operación transaccional</a:t>
            </a:r>
          </a:p>
        </p:txBody>
      </p:sp>
      <p:sp>
        <p:nvSpPr>
          <p:cNvPr id="49" name="Text 12">
            <a:extLst xmlns:a="http://schemas.openxmlformats.org/drawingml/2006/main">
              <a:ext uri="{FF2B5EF4-FFF2-40B4-BE49-F238E27FC236}">
                <a16:creationId xmlns:a16="http://schemas.microsoft.com/office/drawing/2014/main" id="{0BC06A4B-B3F4-4779-925F-5E97277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4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y tabla CO-PA CE1xxxx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SLT con DMIS 2018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Gateway / ODP / OData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red y controles corporativos</a:t>
            </a:r>
          </a:p>
        </p:txBody>
      </p:sp>
      <p:sp>
        <p:nvSpPr>
          <p:cNvPr id="50" name="Shape 13">
            <a:extLst xmlns:a="http://schemas.openxmlformats.org/drawingml/2006/main">
              <a:ext uri="{FF2B5EF4-FFF2-40B4-BE49-F238E27FC236}">
                <a16:creationId xmlns:a16="http://schemas.microsoft.com/office/drawing/2014/main" id="{4BFEF7E1-1B30-42D7-95BA-85DC5826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1" name="Shape 14">
            <a:extLst xmlns:a="http://schemas.openxmlformats.org/drawingml/2006/main">
              <a:ext uri="{FF2B5EF4-FFF2-40B4-BE49-F238E27FC236}">
                <a16:creationId xmlns:a16="http://schemas.microsoft.com/office/drawing/2014/main" id="{2A8E2896-8CE5-4E2C-B779-0A2DCE25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2" name="Shape 15">
            <a:extLst xmlns:a="http://schemas.openxmlformats.org/drawingml/2006/main">
              <a:ext uri="{FF2B5EF4-FFF2-40B4-BE49-F238E27FC236}">
                <a16:creationId xmlns:a16="http://schemas.microsoft.com/office/drawing/2014/main" id="{B5C052D4-DAF5-4489-AA92-4CE0AFF8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FCB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3" name="Shape 16">
            <a:extLst xmlns:a="http://schemas.openxmlformats.org/drawingml/2006/main">
              <a:ext uri="{FF2B5EF4-FFF2-40B4-BE49-F238E27FC236}">
                <a16:creationId xmlns:a16="http://schemas.microsoft.com/office/drawing/2014/main" id="{736C8356-E199-4D1E-94B4-FB7A79BF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253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4" name="Shape 17">
            <a:extLst xmlns:a="http://schemas.openxmlformats.org/drawingml/2006/main">
              <a:ext uri="{FF2B5EF4-FFF2-40B4-BE49-F238E27FC236}">
                <a16:creationId xmlns:a16="http://schemas.microsoft.com/office/drawing/2014/main" id="{4574F43F-8FF9-4879-B2B5-E0D8F7E7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" name="Text 18">
            <a:extLst xmlns:a="http://schemas.openxmlformats.org/drawingml/2006/main">
              <a:ext uri="{FF2B5EF4-FFF2-40B4-BE49-F238E27FC236}">
                <a16:creationId xmlns:a16="http://schemas.microsoft.com/office/drawing/2014/main" id="{71315B5A-5758-467C-9F51-35FC1A48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00AFCB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Migra a AWS</a:t>
            </a:r>
          </a:p>
        </p:txBody>
      </p:sp>
      <p:sp>
        <p:nvSpPr>
          <p:cNvPr id="56" name="Text 19">
            <a:extLst xmlns:a="http://schemas.openxmlformats.org/drawingml/2006/main">
              <a:ext uri="{FF2B5EF4-FFF2-40B4-BE49-F238E27FC236}">
                <a16:creationId xmlns:a16="http://schemas.microsoft.com/office/drawing/2014/main" id="{BC621CDF-746E-43DB-9641-4394F630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plataforma analítica</a:t>
            </a:r>
          </a:p>
        </p:txBody>
      </p:sp>
      <p:sp>
        <p:nvSpPr>
          <p:cNvPr id="57" name="Text 20">
            <a:extLst xmlns:a="http://schemas.openxmlformats.org/drawingml/2006/main">
              <a:ext uri="{FF2B5EF4-FFF2-40B4-BE49-F238E27FC236}">
                <a16:creationId xmlns:a16="http://schemas.microsoft.com/office/drawing/2014/main" id="{17D6569F-20B2-4E8A-9F3F-53386973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669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AppFlow y S3 Landing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ETL en EC2 Auto Scaling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S3 Curated y RDS PostgreSQL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consumo privado y Power BI Gateway</a:t>
            </a:r>
          </a:p>
        </p:txBody>
      </p:sp>
      <p:sp>
        <p:nvSpPr>
          <p:cNvPr id="58" name="Text 21">
            <a:extLst xmlns:a="http://schemas.openxmlformats.org/drawingml/2006/main">
              <a:ext uri="{FF2B5EF4-FFF2-40B4-BE49-F238E27FC236}">
                <a16:creationId xmlns:a16="http://schemas.microsoft.com/office/drawing/2014/main" id="{C81C013F-49DE-4501-9B77-DD66948B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59" name="Text 22">
            <a:extLst xmlns:a="http://schemas.openxmlformats.org/drawingml/2006/main">
              <a:ext uri="{FF2B5EF4-FFF2-40B4-BE49-F238E27FC236}">
                <a16:creationId xmlns:a16="http://schemas.microsoft.com/office/drawing/2014/main" id="{DC680408-5E38-40B5-BB02-D861CFB0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5810250"/>
            <a:ext cx="10389584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8366" lnSpcReduction="0"/>
          </a:bodyPr>
          <a:lstStyle xmlns:a="http://schemas.openxmlformats.org/drawingml/2006/main">
            <a:lvl1pPr defTabSz="905255">
              <a:lnSpc>
                <a:spcPct val="120000"/>
              </a:lnSpc>
              <a:buNone/>
              <a:defRPr sz="1485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BW queda fuera del flujo. La demostración usa datos sintéticos: ningún registro productivo sale del entorno SAP.</a:t>
            </a:r>
          </a:p>
        </p:txBody>
      </p:sp>
      <p:sp>
        <p:nvSpPr>
          <p:cNvPr id="60" name="Text 24">
            <a:extLst xmlns:a="http://schemas.openxmlformats.org/drawingml/2006/main">
              <a:ext uri="{FF2B5EF4-FFF2-40B4-BE49-F238E27FC236}">
                <a16:creationId xmlns:a16="http://schemas.microsoft.com/office/drawing/2014/main" id="{1FC4D20B-1641-4FBA-A9DE-CD5CBBE1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3371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alcance</a:t>
            </a:r>
          </a:p>
        </p:txBody>
      </p:sp>
      <p:sp>
        <p:nvSpPr>
          <p:cNvPr id="61" name="Text 25">
            <a:extLst xmlns:a="http://schemas.openxmlformats.org/drawingml/2006/main">
              <a:ext uri="{FF2B5EF4-FFF2-40B4-BE49-F238E27FC236}">
                <a16:creationId xmlns:a16="http://schemas.microsoft.com/office/drawing/2014/main" id="{9012CE86-B0EB-4A48-B02E-D4E5A5D7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1992276309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8badd2c8b4cd5"/>
          <a:stretch xmlns:a="http://schemas.openxmlformats.org/drawingml/2006/main"/>
        </p:blipFill>
        <p:spPr>
          <a:xfrm xmlns:a="http://schemas.openxmlformats.org/drawingml/2006/main">
            <a:off x="10527" y="0"/>
            <a:ext cx="12170946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297076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c6579d3f464997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FINAL/DIMENSIONAMIENTO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CAPACIDAD BASE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 guían la prueba; el tamaño real se mide.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VOLUMEN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CO-PA · crecimiento 20 %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Carga inicial estimada en 45–54 GiB. Prueba sintética mínima: 4,5 millones de filas antes de producción.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PROCESAMIENTO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 → 4 workers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EC2 m6i.large · Auto Scaling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Un worker continuo; expansión temporal para carga inicial y picos. Delta de AppFlow cada hora.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DATOS PRIVADOS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100 → 200 GiB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db.m6g.large · Multi-AZ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gp3, backups 14 días, KMS y Secrets Manager. S3 inicia con 100 GiB y proyecta 200 GiB.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RDS no tiene endpoint público; Power BI consume mediante gateway y TLS, nunca con una conexión directa desde Internet.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recursos y seguridad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a24d4df1cd4c86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FINAL/CRONOGRAMA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Camino crítico: SAP, red, OData, AppFlow y conciliación.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SEMANAS 1–3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Preparar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alcance · red · Terraform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Aprobar responsables y accesos; validar VPN, seguridad y desplegar la infraestructura reproducible.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SEMANAS 4–7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Probar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funcional · volumen · recuperación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Ensayar carga y deltas, medir 10 % del volumen, restaurar RDS y obtener aceptación del usuario.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SEMANAS 8–10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Cortar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delta final · hypercare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Conciliar, habilitar primero al piloto y estabilizar cinco días. La plataforma anterior queda en consulta.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No-Go si la diferencia no explicada supera 0,1 %, el delta se detiene dos horas o falla una consulta crítica.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cronograma y corte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901313adce444e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FINAL/COSTOS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24902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780/MES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24902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Calculator 700,04 + VPN 36,50 + PrivateLink 43,90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BASE PRODUCTIVA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780,44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mensual · USD 9.365,28 anual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Incluye ETL, RDS Multi-AZ, gateways Windows, VPN, PrivateLink, S3, AppFlow, KMS y monitoreo.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DÓNDE ESTÁ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74,4 %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+ Power BI Gateway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 disponibilidad domina el presupuesto; AppFlow y S3 representan una porción menor del total.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ALTERNATIVA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497,96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gateway corporativo existente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Reduce el gasto AWS, pero traslada capacidad y operación a infraestructura Windows on-premise.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 se presupuestan descuentos antes de medir. Luego se evalúan reserva RDS, ETL programado y lifecycle S3.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costos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4" name="Shape 0">
            <a:extLst xmlns:a="http://schemas.openxmlformats.org/drawingml/2006/main">
              <a:ext uri="{FF2B5EF4-FFF2-40B4-BE49-F238E27FC236}">
                <a16:creationId xmlns:a16="http://schemas.microsoft.com/office/drawing/2014/main" id="{F33634A1-CCD5-4C1F-81A4-01322F6A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2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f24b5b57d41fb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06" name="Text 1">
            <a:extLst xmlns:a="http://schemas.openxmlformats.org/drawingml/2006/main">
              <a:ext uri="{FF2B5EF4-FFF2-40B4-BE49-F238E27FC236}">
                <a16:creationId xmlns:a16="http://schemas.microsoft.com/office/drawing/2014/main" id="{6EA44020-004B-4F91-AE15-1F28DC24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7" name="Text 2">
            <a:extLst xmlns:a="http://schemas.openxmlformats.org/drawingml/2006/main">
              <a:ext uri="{FF2B5EF4-FFF2-40B4-BE49-F238E27FC236}">
                <a16:creationId xmlns:a16="http://schemas.microsoft.com/office/drawing/2014/main" id="{EF854649-E9B7-41F4-BE53-9690E5D5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779050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FINAL/EVIDENCIA</a:t>
            </a:r>
          </a:p>
        </p:txBody>
      </p:sp>
      <p:sp>
        <p:nvSpPr>
          <p:cNvPr id="308" name="Text 3">
            <a:extLst xmlns:a="http://schemas.openxmlformats.org/drawingml/2006/main">
              <a:ext uri="{FF2B5EF4-FFF2-40B4-BE49-F238E27FC236}">
                <a16:creationId xmlns:a16="http://schemas.microsoft.com/office/drawing/2014/main" id="{7EA9DD95-F23D-47E2-8E87-81DA97C1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5815"/>
            <a:ext cx="3163919" cy="10382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759" lnSpcReduction="0"/>
          </a:bodyPr>
          <a:lstStyle xmlns:a="http://schemas.openxmlformats.org/drawingml/2006/main">
            <a:lvl1pPr defTabSz="804672">
              <a:lnSpc>
                <a:spcPct val="104999"/>
              </a:lnSpc>
              <a:buNone/>
              <a:defRPr sz="3256" b="1" spc="-88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LISTO PARA DEFENDER</a:t>
            </a:r>
          </a:p>
        </p:txBody>
      </p:sp>
      <p:sp>
        <p:nvSpPr>
          <p:cNvPr id="309" name="Text 5">
            <a:extLst xmlns:a="http://schemas.openxmlformats.org/drawingml/2006/main">
              <a:ext uri="{FF2B5EF4-FFF2-40B4-BE49-F238E27FC236}">
                <a16:creationId xmlns:a16="http://schemas.microsoft.com/office/drawing/2014/main" id="{E07CEA80-8EC6-4286-9818-FE2D06A8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1685925"/>
            <a:ext cx="371475" cy="2571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1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0" name="Text 6">
            <a:extLst xmlns:a="http://schemas.openxmlformats.org/drawingml/2006/main">
              <a:ext uri="{FF2B5EF4-FFF2-40B4-BE49-F238E27FC236}">
                <a16:creationId xmlns:a16="http://schemas.microsoft.com/office/drawing/2014/main" id="{F38A7B3B-9B57-4F5B-928B-E0F29497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76400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 servicios AWS materializados en LocalStack</a:t>
            </a:r>
          </a:p>
        </p:txBody>
      </p:sp>
      <p:sp>
        <p:nvSpPr>
          <p:cNvPr id="311" name="Text 7">
            <a:extLst xmlns:a="http://schemas.openxmlformats.org/drawingml/2006/main">
              <a:ext uri="{FF2B5EF4-FFF2-40B4-BE49-F238E27FC236}">
                <a16:creationId xmlns:a16="http://schemas.microsoft.com/office/drawing/2014/main" id="{A19E6719-E898-4B53-B7E2-65ADBB52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193577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2" name="Text 8">
            <a:extLst xmlns:a="http://schemas.openxmlformats.org/drawingml/2006/main">
              <a:ext uri="{FF2B5EF4-FFF2-40B4-BE49-F238E27FC236}">
                <a16:creationId xmlns:a16="http://schemas.microsoft.com/office/drawing/2014/main" id="{C0BF63FF-90F9-4B4F-A141-B08F394E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4052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13 controles aprobados · 0 advertencias</a:t>
            </a:r>
          </a:p>
        </p:txBody>
      </p:sp>
      <p:sp>
        <p:nvSpPr>
          <p:cNvPr id="313" name="Text 9">
            <a:extLst xmlns:a="http://schemas.openxmlformats.org/drawingml/2006/main">
              <a:ext uri="{FF2B5EF4-FFF2-40B4-BE49-F238E27FC236}">
                <a16:creationId xmlns:a16="http://schemas.microsoft.com/office/drawing/2014/main" id="{63162C38-7CCD-4009-847A-8BB02726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701230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4" name="Text 10">
            <a:extLst xmlns:a="http://schemas.openxmlformats.org/drawingml/2006/main">
              <a:ext uri="{FF2B5EF4-FFF2-40B4-BE49-F238E27FC236}">
                <a16:creationId xmlns:a16="http://schemas.microsoft.com/office/drawing/2014/main" id="{F6944613-DF9A-4149-857B-67245FE8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91705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13 pruebas · Terraform 1.5.7 válido</a:t>
            </a:r>
          </a:p>
        </p:txBody>
      </p:sp>
      <p:sp>
        <p:nvSpPr>
          <p:cNvPr id="315" name="Text 13">
            <a:extLst xmlns:a="http://schemas.openxmlformats.org/drawingml/2006/main">
              <a:ext uri="{FF2B5EF4-FFF2-40B4-BE49-F238E27FC236}">
                <a16:creationId xmlns:a16="http://schemas.microsoft.com/office/drawing/2014/main" id="{34CE6505-1AE9-432D-98F0-AD31B3A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810125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6" name="Text 14">
            <a:extLst xmlns:a="http://schemas.openxmlformats.org/drawingml/2006/main">
              <a:ext uri="{FF2B5EF4-FFF2-40B4-BE49-F238E27FC236}">
                <a16:creationId xmlns:a16="http://schemas.microsoft.com/office/drawing/2014/main" id="{984DC0B5-A938-4282-A649-DA7E2EE1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829175"/>
            <a:ext cx="5042726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602" lnSpcReduction="0"/>
          </a:bodyPr>
          <a:lstStyle xmlns:a="http://schemas.openxmlformats.org/drawingml/2006/main">
            <a:lvl1pPr defTabSz="822959">
              <a:lnSpc>
                <a:spcPct val="120000"/>
              </a:lnSpc>
              <a:buNone/>
              <a:defRPr sz="1350" b="1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Próxima decisión: validar el EntitySet CO-PA OData en SAP antes del piloto productivo.</a:t>
            </a:r>
          </a:p>
        </p:txBody>
      </p:sp>
      <p:sp>
        <p:nvSpPr>
          <p:cNvPr id="317" name="Text 15">
            <a:extLst xmlns:a="http://schemas.openxmlformats.org/drawingml/2006/main">
              <a:ext uri="{FF2B5EF4-FFF2-40B4-BE49-F238E27FC236}">
                <a16:creationId xmlns:a16="http://schemas.microsoft.com/office/drawing/2014/main" id="{8A19A08C-155F-43CB-B2FD-A5D240C1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20818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cierre</a:t>
            </a:r>
          </a:p>
        </p:txBody>
      </p:sp>
      <p:sp>
        <p:nvSpPr>
          <p:cNvPr id="318" name="Text 16">
            <a:extLst xmlns:a="http://schemas.openxmlformats.org/drawingml/2006/main">
              <a:ext uri="{FF2B5EF4-FFF2-40B4-BE49-F238E27FC236}">
                <a16:creationId xmlns:a16="http://schemas.microsoft.com/office/drawing/2014/main" id="{3450E16D-BA86-48EE-9C91-E6AAD590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180114476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2026-08-18T02:33:52.7070000Z</dcterms:created>
  <dcterms:modified xsi:type="dcterms:W3CDTF">2026-08-18T02:33:52.7070000Z</dcterms:modified>
</coreProperties>
</file>