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921284516e4aeb" /><Relationship Type="http://schemas.openxmlformats.org/officeDocument/2006/relationships/extended-properties" Target="/docProps/app.xml" Id="R32d4582e0b9c4258" /><Relationship Type="http://schemas.openxmlformats.org/officeDocument/2006/relationships/officeDocument" Target="/ppt/presentation.xml" Id="Rd9ec5e801e0141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de7919405f44c60"/>
  </p:sldMasterIdLst>
  <p:notesMasterIdLst>
    <p:notesMasterId xmlns:r="http://schemas.openxmlformats.org/officeDocument/2006/relationships" r:id="R45ffc247c66b492b"/>
  </p:notesMasterIdLst>
  <p:sldIdLst>
    <p:sldId xmlns:r="http://schemas.openxmlformats.org/officeDocument/2006/relationships" id="256" r:id="R820e0e0f1a32477b"/>
    <p:sldId xmlns:r="http://schemas.openxmlformats.org/officeDocument/2006/relationships" id="257" r:id="Rb0f5cf0a6e26481a"/>
    <p:sldId xmlns:r="http://schemas.openxmlformats.org/officeDocument/2006/relationships" id="258" r:id="R7ff4c15291924b59"/>
    <p:sldId xmlns:r="http://schemas.openxmlformats.org/officeDocument/2006/relationships" id="259" r:id="Rba76c63cf577489e"/>
    <p:sldId xmlns:r="http://schemas.openxmlformats.org/officeDocument/2006/relationships" id="260" r:id="Rc1908618568a44f9"/>
    <p:sldId xmlns:r="http://schemas.openxmlformats.org/officeDocument/2006/relationships" id="261" r:id="R16f620e1d2744e69"/>
    <p:sldId xmlns:r="http://schemas.openxmlformats.org/officeDocument/2006/relationships" id="262" r:id="Rdb316b45b42e4159"/>
    <p:sldId xmlns:r="http://schemas.openxmlformats.org/officeDocument/2006/relationships" id="263" r:id="Rd1b833d33c8a4a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5630ca1896480c" /><Relationship Type="http://schemas.openxmlformats.org/officeDocument/2006/relationships/slideMaster" Target="/ppt/slideMasters/slideMaster1.xml" Id="R1de7919405f44c60" /><Relationship Type="http://schemas.openxmlformats.org/officeDocument/2006/relationships/notesMaster" Target="/ppt/notesMasters/notesMaster1.xml" Id="R45ffc247c66b492b" /><Relationship Type="http://schemas.openxmlformats.org/officeDocument/2006/relationships/presProps" Target="/ppt/presProps.xml" Id="R11e93e56ca304870" /><Relationship Type="http://schemas.openxmlformats.org/officeDocument/2006/relationships/tableStyles" Target="/ppt/tableStyles.xml" Id="R1ce59440c239439d" /><Relationship Type="http://schemas.openxmlformats.org/officeDocument/2006/relationships/slide" Target="/ppt/slides/slide1.xml" Id="R820e0e0f1a32477b" /><Relationship Type="http://schemas.openxmlformats.org/officeDocument/2006/relationships/slide" Target="/ppt/slides/slide2.xml" Id="Rb0f5cf0a6e26481a" /><Relationship Type="http://schemas.openxmlformats.org/officeDocument/2006/relationships/slide" Target="/ppt/slides/slide3.xml" Id="R7ff4c15291924b59" /><Relationship Type="http://schemas.openxmlformats.org/officeDocument/2006/relationships/slide" Target="/ppt/slides/slide4.xml" Id="Rba76c63cf577489e" /><Relationship Type="http://schemas.openxmlformats.org/officeDocument/2006/relationships/slide" Target="/ppt/slides/slide5.xml" Id="Rc1908618568a44f9" /><Relationship Type="http://schemas.openxmlformats.org/officeDocument/2006/relationships/slide" Target="/ppt/slides/slide6.xml" Id="R16f620e1d2744e69" /><Relationship Type="http://schemas.openxmlformats.org/officeDocument/2006/relationships/slide" Target="/ppt/slides/slide7.xml" Id="Rdb316b45b42e4159" /><Relationship Type="http://schemas.openxmlformats.org/officeDocument/2006/relationships/slide" Target="/ppt/slides/slide8.xml" Id="Rd1b833d33c8a4a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0b03eb131245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5827dfc7834c56" /><Relationship Type="http://schemas.openxmlformats.org/officeDocument/2006/relationships/notesMaster" Target="/ppt/notesMasters/notesMaster1.xml" Id="Rdbdbd38613ac4a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4046165da741ec" /><Relationship Type="http://schemas.openxmlformats.org/officeDocument/2006/relationships/notesMaster" Target="/ppt/notesMasters/notesMaster1.xml" Id="R112d20cac72d44a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a211610a5747d8" /><Relationship Type="http://schemas.openxmlformats.org/officeDocument/2006/relationships/notesMaster" Target="/ppt/notesMasters/notesMaster1.xml" Id="R1dbadbb4e92d455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16def1bc924487" /><Relationship Type="http://schemas.openxmlformats.org/officeDocument/2006/relationships/notesMaster" Target="/ppt/notesMasters/notesMaster1.xml" Id="R0d15048bf9f54e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6904bde3284956" /><Relationship Type="http://schemas.openxmlformats.org/officeDocument/2006/relationships/notesMaster" Target="/ppt/notesMasters/notesMaster1.xml" Id="R72b1c14146824e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bd12a0bb29420f" /><Relationship Type="http://schemas.openxmlformats.org/officeDocument/2006/relationships/notesMaster" Target="/ppt/notesMasters/notesMaster1.xml" Id="R468e9ab7dff742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eb715390b94b37" /><Relationship Type="http://schemas.openxmlformats.org/officeDocument/2006/relationships/notesMaster" Target="/ppt/notesMasters/notesMaster1.xml" Id="R1a2ac5461dcc4fe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bd442a409a4bcb" /><Relationship Type="http://schemas.openxmlformats.org/officeDocument/2006/relationships/notesMaster" Target="/ppt/notesMasters/notesMaster1.xml" Id="R8ac59df4d9ad4a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sources/Proyecto Final (migracion Cloud).pptx (template visual)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docs/security.md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arquitectura v5 contiene subredes y servicios compartidos dentro de una VPC cerrada, representa un único ASG ETL Multi-AZ y explicita Curated → ETL → 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outputs/arquitectura-sap-erp-slt-aws-consumo-v5.png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iac/networking.tf</a:t>
            </a:r>
          </a:p>
          <a:p xmlns:a="http://schemas.openxmlformats.org/drawingml/2006/main">
            <a:r>
              <a:t>- https://docs.aws.amazon.com/vpc/latest/privatelink/gateway-endpoints.html</a:t>
            </a:r>
          </a:p>
          <a:p xmlns:a="http://schemas.openxmlformats.org/drawingml/2006/main">
            <a:r>
              <a:t>- https://aws.amazon.com/privatelink/pricing/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docs/sizing.md</a:t>
            </a:r>
          </a:p>
          <a:p xmlns:a="http://schemas.openxmlformats.org/drawingml/2006/main">
            <a:r>
              <a:t>- docs/security.md</a:t>
            </a:r>
          </a:p>
          <a:p xmlns:a="http://schemas.openxmlformats.org/drawingml/2006/main">
            <a:r>
              <a:t>- AWS AppFlow and RDS official documentation linked in those files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docs/migration-plan.md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docs/cost-estimate.md</a:t>
            </a:r>
          </a:p>
          <a:p xmlns:a="http://schemas.openxmlformats.org/drawingml/2006/main">
            <a:r>
              <a:t>- costs/aws-us-east-1.json</a:t>
            </a:r>
          </a:p>
          <a:p xmlns:a="http://schemas.openxmlformats.org/drawingml/2006/main">
            <a:r>
              <a:t>- https://calculator.aws/</a:t>
            </a:r>
          </a:p>
          <a:p xmlns:a="http://schemas.openxmlformats.org/drawingml/2006/main">
            <a:r>
              <a:t>[Sources]
- https://aws.amazon.com/privatelink/pricing/
- https://docs.aws.amazon.com/vpc/latest/privatelink/gateway-endpoints.html
- costs/aws-us-east-1.json (verificado 2026-08-16)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scripts/check.sh</a:t>
            </a:r>
          </a:p>
          <a:p xmlns:a="http://schemas.openxmlformats.org/drawingml/2006/main">
            <a:r>
              <a:t>- tests/</a:t>
            </a:r>
          </a:p>
          <a:p xmlns:a="http://schemas.openxmlformats.org/drawingml/2006/main">
            <a:r>
              <a:t>- iac/</a:t>
            </a:r>
          </a:p>
          <a:p xmlns:a="http://schemas.openxmlformats.org/drawingml/2006/main">
            <a:r>
              <a:t>- docs/delivery-guide.md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ce95a0846f4d5c" /></Relationships>
</file>

<file path=ppt/slideLayouts/slideLayout1.xml><?xml version="1.0" encoding="utf-8"?>
<p:sldLayout xmlns:p="http://schemas.openxmlformats.org/presentationml/2006/main" showMasterSp="1" showMasterPhAnim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CC315BE-5C81-4A5A-BEC1-8B083C16B113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3946486c2245a2" /><Relationship Type="http://schemas.openxmlformats.org/officeDocument/2006/relationships/slideLayout" Target="/ppt/slideLayouts/slideLayout1.xml" Id="R4f74be7a195e479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Text">
            <a:extLst xmlns:a="http://schemas.openxmlformats.org/drawingml/2006/main">
              <a:ext uri="{FF2B5EF4-FFF2-40B4-BE49-F238E27FC236}">
                <a16:creationId xmlns:a16="http://schemas.microsoft.com/office/drawing/2014/main" id="{479A625D-DCA6-433D-A722-9274152F6B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92074"/>
            <a:ext cx="10972800" cy="15081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>
              <a:buNone/>
            </a:pPr>
            <a:r>
              <a:t>Title Text</a:t>
            </a:r>
          </a:p>
        </p:txBody>
      </p:sp>
      <p:sp>
        <p:nvSpPr>
          <p:cNvPr id="3" name="Body Level One…">
            <a:extLst xmlns:a="http://schemas.openxmlformats.org/drawingml/2006/main">
              <a:ext uri="{FF2B5EF4-FFF2-40B4-BE49-F238E27FC236}">
                <a16:creationId xmlns:a16="http://schemas.microsoft.com/office/drawing/2014/main" id="{64F2E089-90B6-46B3-A3EE-C65717E3E4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0"/>
            <a:ext cx="10972800" cy="5257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  <a:r>
              <a:t>Body Level One</a:t>
            </a:r>
          </a:p>
          <a:p xmlns:a="http://schemas.openxmlformats.org/drawingml/2006/main">
            <a:pPr lvl="1">
              <a:buNone/>
            </a:pPr>
            <a:r>
              <a:t>Body Level Two</a:t>
            </a:r>
          </a:p>
          <a:p xmlns:a="http://schemas.openxmlformats.org/drawingml/2006/main">
            <a:pPr lvl="2">
              <a:buNone/>
            </a:pPr>
            <a:r>
              <a:t>Body Level Three</a:t>
            </a:r>
          </a:p>
          <a:p xmlns:a="http://schemas.openxmlformats.org/drawingml/2006/main">
            <a:pPr lvl="3">
              <a:buNone/>
            </a:pPr>
            <a:r>
              <a:t>Body Level Four</a:t>
            </a:r>
          </a:p>
          <a:p xmlns:a="http://schemas.openxmlformats.org/drawingml/2006/main">
            <a:pPr lvl="4">
              <a:buNone/>
            </a:pPr>
            <a:r>
              <a:t>Body Level Five</a:t>
            </a:r>
          </a:p>
        </p:txBody>
      </p:sp>
      <p:sp>
        <p:nvSpPr>
          <p:cNvPr id="4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51E5686B-8A8B-4F3D-8065-ED2285E1576D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5892800" y="6172200"/>
            <a:ext cx="2844800" cy="3683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 sz="1200"/>
            </a:lvl1pPr>
          </a:lstStyle>
          <a:p xmlns:a="http://schemas.openxmlformats.org/drawingml/2006/main">
            <a:pPr>
              <a:buNone/>
            </a:p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74be7a195e479a"/>
  </p:sldLayoutIdLst>
  <p:txStyles>
    <p:titleStyle>
      <a:lvl1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marR="0" indent="0" algn="ct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342900" marR="0" indent="-3429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L="783771" marR="0" indent="-326571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2pPr>
      <a:lvl3pPr xmlns:a="http://schemas.openxmlformats.org/drawingml/2006/main" marL="1219200" marR="0" indent="-30480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3pPr>
      <a:lvl4pPr xmlns:a="http://schemas.openxmlformats.org/drawingml/2006/main" marL="17373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4pPr>
      <a:lvl5pPr xmlns:a="http://schemas.openxmlformats.org/drawingml/2006/main" marL="21945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5pPr>
      <a:lvl6pPr xmlns:a="http://schemas.openxmlformats.org/drawingml/2006/main" marL="26517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6pPr>
      <a:lvl7pPr xmlns:a="http://schemas.openxmlformats.org/drawingml/2006/main" marL="3108960" marR="0" indent="-365760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7pPr>
      <a:lvl8pPr xmlns:a="http://schemas.openxmlformats.org/drawingml/2006/main" marL="35661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8pPr>
      <a:lvl9pPr xmlns:a="http://schemas.openxmlformats.org/drawingml/2006/main" marL="4023359" marR="0" indent="-365759" algn="l" defTabSz="91440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defRPr sz="3200" b="0" i="0" u="none" cap="none" spc="0" baseline="0">
          <a:solidFill>
            <a:srgbClr val="000000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457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914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1371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18288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22860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2743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3200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3657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23fd4b64d74eea" /><Relationship Type="http://schemas.openxmlformats.org/officeDocument/2006/relationships/image" Target="/ppt/media/image.jpeg" Id="Rf114781148d84f07" /><Relationship Type="http://schemas.openxmlformats.org/officeDocument/2006/relationships/image" Target="/ppt/media/image.png" Id="R29f7544137764d4a" /><Relationship Type="http://schemas.openxmlformats.org/officeDocument/2006/relationships/notesSlide" Target="/ppt/notesSlides/notesSlide1.xml" Id="R704a35b91d9644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a4a3a055614923" /><Relationship Type="http://schemas.openxmlformats.org/officeDocument/2006/relationships/image" Target="/ppt/media/image.jpeg" Id="R37439746a43d4e67" /><Relationship Type="http://schemas.openxmlformats.org/officeDocument/2006/relationships/notesSlide" Target="/ppt/notesSlides/notesSlide2.xml" Id="R47c5d65673fc48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cf627d44b428b" /><Relationship Type="http://schemas.openxmlformats.org/officeDocument/2006/relationships/image" Target="/ppt/media/image.jpeg" Id="R459577b163004fdd" /><Relationship Type="http://schemas.openxmlformats.org/officeDocument/2006/relationships/notesSlide" Target="/ppt/notesSlides/notesSlide3.xml" Id="R836b05bba37541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79b5c6cc6459f" /><Relationship Type="http://schemas.openxmlformats.org/officeDocument/2006/relationships/image" Target="/ppt/media/image2.png" Id="R7f809a14d0eb4b88" /><Relationship Type="http://schemas.openxmlformats.org/officeDocument/2006/relationships/notesSlide" Target="/ppt/notesSlides/notesSlide4.xml" Id="Rf8c2004a999e47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644dcc675472c" /><Relationship Type="http://schemas.openxmlformats.org/officeDocument/2006/relationships/image" Target="/ppt/media/image.jpeg" Id="R9d27efeafca14b94" /><Relationship Type="http://schemas.openxmlformats.org/officeDocument/2006/relationships/notesSlide" Target="/ppt/notesSlides/notesSlide5.xml" Id="R31b47212b3d143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6d565be7d49c1" /><Relationship Type="http://schemas.openxmlformats.org/officeDocument/2006/relationships/image" Target="/ppt/media/image.jpeg" Id="R0c355ec4a96c4d40" /><Relationship Type="http://schemas.openxmlformats.org/officeDocument/2006/relationships/notesSlide" Target="/ppt/notesSlides/notesSlide6.xml" Id="R64887ba943144f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2579128eb543e0" /><Relationship Type="http://schemas.openxmlformats.org/officeDocument/2006/relationships/image" Target="/ppt/media/image.jpeg" Id="Rb2d2f72d52014a86" /><Relationship Type="http://schemas.openxmlformats.org/officeDocument/2006/relationships/notesSlide" Target="/ppt/notesSlides/notesSlide7.xml" Id="Rebd232369bec4e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669491c7c64c70" /><Relationship Type="http://schemas.openxmlformats.org/officeDocument/2006/relationships/image" Target="/ppt/media/image2.jpeg" Id="Rfdbb3ef73e524938" /><Relationship Type="http://schemas.openxmlformats.org/officeDocument/2006/relationships/notesSlide" Target="/ppt/notesSlides/notesSlide8.xml" Id="R89454bede4064a95" 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hape 0">
            <a:extLst xmlns:a="http://schemas.openxmlformats.org/drawingml/2006/main">
              <a:ext uri="{FF2B5EF4-FFF2-40B4-BE49-F238E27FC236}">
                <a16:creationId xmlns:a16="http://schemas.microsoft.com/office/drawing/2014/main" id="{3AFA719B-FA72-47A6-B0BD-8A34EDF1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4781148d84f07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f7544137764d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1428750"/>
            <a:ext cx="1257300" cy="12573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3" name="Text 1">
            <a:extLst xmlns:a="http://schemas.openxmlformats.org/drawingml/2006/main">
              <a:ext uri="{FF2B5EF4-FFF2-40B4-BE49-F238E27FC236}">
                <a16:creationId xmlns:a16="http://schemas.microsoft.com/office/drawing/2014/main" id="{D88AF708-9AD8-4C36-AB21-0EA19BF8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7689" y="1675656"/>
            <a:ext cx="2196622" cy="7634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508" lnSpcReduction="0"/>
          </a:bodyPr>
          <a:lstStyle xmlns:a="http://schemas.openxmlformats.org/drawingml/2006/main">
            <a:lvl1pPr>
              <a:lnSpc>
                <a:spcPct val="112000"/>
              </a:lnSpc>
              <a:buNone/>
              <a:defRPr sz="2500">
                <a:solidFill>
                  <a:srgbClr val="111111"/>
                </a:solidFill>
                <a:latin typeface="Ropa Sans Italic"/>
                <a:ea typeface="Ropa Sans Italic"/>
                <a:cs typeface="Ropa Sans Italic"/>
              </a:defRPr>
            </a:lvl1pPr>
          </a:lstStyle>
          <a:p xmlns:a="http://schemas.openxmlformats.org/drawingml/2006/main">
            <a:pPr>
              <a:buNone/>
            </a:pPr>
            <a:r>
              <a:t>PROYECTO FINAL</a:t>
            </a:r>
          </a:p>
        </p:txBody>
      </p:sp>
      <p:sp>
        <p:nvSpPr>
          <p:cNvPr id="24" name="Text 2">
            <a:extLst xmlns:a="http://schemas.openxmlformats.org/drawingml/2006/main">
              <a:ext uri="{FF2B5EF4-FFF2-40B4-BE49-F238E27FC236}">
                <a16:creationId xmlns:a16="http://schemas.microsoft.com/office/drawing/2014/main" id="{854FAC82-80E5-4369-A71B-406B9864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250" y="3216623"/>
            <a:ext cx="3423500" cy="42475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584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2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CO-PA: de ECC a AWS</a:t>
            </a:r>
          </a:p>
        </p:txBody>
      </p:sp>
      <p:sp>
        <p:nvSpPr>
          <p:cNvPr id="25" name="Text 3">
            <a:extLst xmlns:a="http://schemas.openxmlformats.org/drawingml/2006/main">
              <a:ext uri="{FF2B5EF4-FFF2-40B4-BE49-F238E27FC236}">
                <a16:creationId xmlns:a16="http://schemas.microsoft.com/office/drawing/2014/main" id="{695E310E-C3E6-4466-835B-888636A3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8705" y="4215179"/>
            <a:ext cx="3954590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 · Cloud Computing (AWS)</a:t>
            </a:r>
          </a:p>
        </p:txBody>
      </p:sp>
    </p:spTree>
    <p:extLst>
      <p:ext uri="{BB962C8B-B14F-4D97-AF65-F5344CB8AC3E}">
        <p14:creationId xmlns:p14="http://schemas.microsoft.com/office/powerpoint/2010/main" val="548270046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hape 0">
            <a:extLst xmlns:a="http://schemas.openxmlformats.org/drawingml/2006/main">
              <a:ext uri="{FF2B5EF4-FFF2-40B4-BE49-F238E27FC236}">
                <a16:creationId xmlns:a16="http://schemas.microsoft.com/office/drawing/2014/main" id="{465B0A6D-B1AF-4843-99B2-0539644A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39746a43d4e67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9" name="Text 1">
            <a:extLst xmlns:a="http://schemas.openxmlformats.org/drawingml/2006/main">
              <a:ext uri="{FF2B5EF4-FFF2-40B4-BE49-F238E27FC236}">
                <a16:creationId xmlns:a16="http://schemas.microsoft.com/office/drawing/2014/main" id="{CBF9B2C2-FCB0-4796-8E41-8C6E61E1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" name="Text 2">
            <a:extLst xmlns:a="http://schemas.openxmlformats.org/drawingml/2006/main">
              <a:ext uri="{FF2B5EF4-FFF2-40B4-BE49-F238E27FC236}">
                <a16:creationId xmlns:a16="http://schemas.microsoft.com/office/drawing/2014/main" id="{61E48FC8-F19B-441A-BA21-34E23ACB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967219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FINAL/LA DECISIÓN</a:t>
            </a:r>
          </a:p>
        </p:txBody>
      </p:sp>
      <p:sp>
        <p:nvSpPr>
          <p:cNvPr id="31" name="Text 3">
            <a:extLst xmlns:a="http://schemas.openxmlformats.org/drawingml/2006/main">
              <a:ext uri="{FF2B5EF4-FFF2-40B4-BE49-F238E27FC236}">
                <a16:creationId xmlns:a16="http://schemas.microsoft.com/office/drawing/2014/main" id="{D6B7F85E-50B4-4A9E-86C7-71450B87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13906"/>
            <a:ext cx="10889933" cy="106828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160" lnSpcReduction="0"/>
          </a:bodyPr>
          <a:lstStyle xmlns:a="http://schemas.openxmlformats.org/drawingml/2006/main"/>
          <a:p xmlns:a="http://schemas.openxmlformats.org/drawingml/2006/main">
            <a:pPr defTabSz="758951">
              <a:lnSpc>
                <a:spcPct val="104000"/>
              </a:lnSpc>
              <a:buNone/>
              <a:defRPr sz="3237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SIGUE ON-PREMISE: LA ANALÍTICA CO-PA SE MUEVE A AWS.</a:t>
            </a:r>
          </a:p>
        </p:txBody>
      </p:sp>
      <p:sp>
        <p:nvSpPr>
          <p:cNvPr id="32" name="Text 4">
            <a:extLst xmlns:a="http://schemas.openxmlformats.org/drawingml/2006/main">
              <a:ext uri="{FF2B5EF4-FFF2-40B4-BE49-F238E27FC236}">
                <a16:creationId xmlns:a16="http://schemas.microsoft.com/office/drawing/2014/main" id="{613CAD24-3FB2-4365-BB6A-FB157248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76800"/>
            <a:ext cx="9908858" cy="84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905255">
              <a:lnSpc>
                <a:spcPct val="135000"/>
              </a:lnSpc>
              <a:buNone/>
              <a:defRPr sz="1485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alcance desacopla extracción, almacenamiento y consumo sin migrar el ERP. SAP SLT publica CO-PA; AWS recibe, transforma y sirve los datos con infraestructura reproducible.</a:t>
            </a:r>
          </a:p>
        </p:txBody>
      </p:sp>
      <p:sp>
        <p:nvSpPr>
          <p:cNvPr id="33" name="Text 6">
            <a:extLst xmlns:a="http://schemas.openxmlformats.org/drawingml/2006/main">
              <a:ext uri="{FF2B5EF4-FFF2-40B4-BE49-F238E27FC236}">
                <a16:creationId xmlns:a16="http://schemas.microsoft.com/office/drawing/2014/main" id="{EFA33075-82E4-49B1-8595-7F3CC5EF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90444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decisión</a:t>
            </a:r>
          </a:p>
        </p:txBody>
      </p:sp>
      <p:sp>
        <p:nvSpPr>
          <p:cNvPr id="34" name="Text 7">
            <a:extLst xmlns:a="http://schemas.openxmlformats.org/drawingml/2006/main">
              <a:ext uri="{FF2B5EF4-FFF2-40B4-BE49-F238E27FC236}">
                <a16:creationId xmlns:a16="http://schemas.microsoft.com/office/drawing/2014/main" id="{F193022A-126D-463E-BC1C-7C9C0A93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2102304786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Shape 0">
            <a:extLst xmlns:a="http://schemas.openxmlformats.org/drawingml/2006/main">
              <a:ext uri="{FF2B5EF4-FFF2-40B4-BE49-F238E27FC236}">
                <a16:creationId xmlns:a16="http://schemas.microsoft.com/office/drawing/2014/main" id="{7E5ACB83-EE4F-4E57-94C0-289605F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6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9577b163004fdd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8" name="Text 1">
            <a:extLst xmlns:a="http://schemas.openxmlformats.org/drawingml/2006/main">
              <a:ext uri="{FF2B5EF4-FFF2-40B4-BE49-F238E27FC236}">
                <a16:creationId xmlns:a16="http://schemas.microsoft.com/office/drawing/2014/main" id="{2FBDFF82-8152-4A7D-9B6A-9120FEDE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9" name="Text 2">
            <a:extLst xmlns:a="http://schemas.openxmlformats.org/drawingml/2006/main">
              <a:ext uri="{FF2B5EF4-FFF2-40B4-BE49-F238E27FC236}">
                <a16:creationId xmlns:a16="http://schemas.microsoft.com/office/drawing/2014/main" id="{D81EA20A-27D7-4E06-87E9-68ED8ABD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636882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FINAL/ALCANCE</a:t>
            </a:r>
          </a:p>
        </p:txBody>
      </p:sp>
      <p:sp>
        <p:nvSpPr>
          <p:cNvPr id="40" name="Text 3">
            <a:extLst xmlns:a="http://schemas.openxmlformats.org/drawingml/2006/main">
              <a:ext uri="{FF2B5EF4-FFF2-40B4-BE49-F238E27FC236}">
                <a16:creationId xmlns:a16="http://schemas.microsoft.com/office/drawing/2014/main" id="{3DBED1E3-DAF8-4E6A-93F3-DCA5DB77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ALCANCE CO-PA</a:t>
            </a:r>
          </a:p>
        </p:txBody>
      </p:sp>
      <p:sp>
        <p:nvSpPr>
          <p:cNvPr id="41" name="Text 4">
            <a:extLst xmlns:a="http://schemas.openxmlformats.org/drawingml/2006/main">
              <a:ext uri="{FF2B5EF4-FFF2-40B4-BE49-F238E27FC236}">
                <a16:creationId xmlns:a16="http://schemas.microsoft.com/office/drawing/2014/main" id="{E5123B8C-0CD0-41F1-9918-A5315C03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El flujo completo se defiende con tiempo, recursos y costos.</a:t>
            </a:r>
          </a:p>
        </p:txBody>
      </p:sp>
      <p:sp>
        <p:nvSpPr>
          <p:cNvPr id="42" name="Shape 5">
            <a:extLst xmlns:a="http://schemas.openxmlformats.org/drawingml/2006/main">
              <a:ext uri="{FF2B5EF4-FFF2-40B4-BE49-F238E27FC236}">
                <a16:creationId xmlns:a16="http://schemas.microsoft.com/office/drawing/2014/main" id="{75696AD5-82EA-4126-86D7-77B24CBB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3" name="Shape 6">
            <a:extLst xmlns:a="http://schemas.openxmlformats.org/drawingml/2006/main">
              <a:ext uri="{FF2B5EF4-FFF2-40B4-BE49-F238E27FC236}">
                <a16:creationId xmlns:a16="http://schemas.microsoft.com/office/drawing/2014/main" id="{4C224F44-F86A-440C-8E69-725319D0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4" name="Shape 7">
            <a:extLst xmlns:a="http://schemas.openxmlformats.org/drawingml/2006/main">
              <a:ext uri="{FF2B5EF4-FFF2-40B4-BE49-F238E27FC236}">
                <a16:creationId xmlns:a16="http://schemas.microsoft.com/office/drawing/2014/main" id="{D784B46D-E988-4C14-89FE-54352120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8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5" name="Shape 8">
            <a:extLst xmlns:a="http://schemas.openxmlformats.org/drawingml/2006/main">
              <a:ext uri="{FF2B5EF4-FFF2-40B4-BE49-F238E27FC236}">
                <a16:creationId xmlns:a16="http://schemas.microsoft.com/office/drawing/2014/main" id="{0C3F804D-1D1E-4763-A9AD-53E724C0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6" name="Shape 9">
            <a:extLst xmlns:a="http://schemas.openxmlformats.org/drawingml/2006/main">
              <a:ext uri="{FF2B5EF4-FFF2-40B4-BE49-F238E27FC236}">
                <a16:creationId xmlns:a16="http://schemas.microsoft.com/office/drawing/2014/main" id="{D5277A02-5E32-4A2D-AE78-3BDF5F2A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3462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7" name="Text 10">
            <a:extLst xmlns:a="http://schemas.openxmlformats.org/drawingml/2006/main">
              <a:ext uri="{FF2B5EF4-FFF2-40B4-BE49-F238E27FC236}">
                <a16:creationId xmlns:a16="http://schemas.microsoft.com/office/drawing/2014/main" id="{E0883F70-62E1-42EC-845E-854408AB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Permanece on-premise</a:t>
            </a:r>
          </a:p>
        </p:txBody>
      </p:sp>
      <p:sp>
        <p:nvSpPr>
          <p:cNvPr id="48" name="Text 11">
            <a:extLst xmlns:a="http://schemas.openxmlformats.org/drawingml/2006/main">
              <a:ext uri="{FF2B5EF4-FFF2-40B4-BE49-F238E27FC236}">
                <a16:creationId xmlns:a16="http://schemas.microsoft.com/office/drawing/2014/main" id="{3014C03B-82D8-4A78-AA4A-2D5F834B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operación transaccional</a:t>
            </a:r>
          </a:p>
        </p:txBody>
      </p:sp>
      <p:sp>
        <p:nvSpPr>
          <p:cNvPr id="49" name="Text 12">
            <a:extLst xmlns:a="http://schemas.openxmlformats.org/drawingml/2006/main">
              <a:ext uri="{FF2B5EF4-FFF2-40B4-BE49-F238E27FC236}">
                <a16:creationId xmlns:a16="http://schemas.microsoft.com/office/drawing/2014/main" id="{0BC06A4B-B3F4-4779-925F-5E97277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4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ECC y tabla CO-PA CE1xxxx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SLT con DMIS 2018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SAP Gateway / ODP / OData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red y controles corporativos</a:t>
            </a:r>
          </a:p>
        </p:txBody>
      </p:sp>
      <p:sp>
        <p:nvSpPr>
          <p:cNvPr id="50" name="Shape 13">
            <a:extLst xmlns:a="http://schemas.openxmlformats.org/drawingml/2006/main">
              <a:ext uri="{FF2B5EF4-FFF2-40B4-BE49-F238E27FC236}">
                <a16:creationId xmlns:a16="http://schemas.microsoft.com/office/drawing/2014/main" id="{4BFEF7E1-1B30-42D7-95BA-85DC5826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257575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1" name="Shape 14">
            <a:extLst xmlns:a="http://schemas.openxmlformats.org/drawingml/2006/main">
              <a:ext uri="{FF2B5EF4-FFF2-40B4-BE49-F238E27FC236}">
                <a16:creationId xmlns:a16="http://schemas.microsoft.com/office/drawing/2014/main" id="{2A8E2896-8CE5-4E2C-B779-0A2DCE25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32461"/>
            <a:ext cx="5286375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2" name="Shape 15">
            <a:extLst xmlns:a="http://schemas.openxmlformats.org/drawingml/2006/main">
              <a:ext uri="{FF2B5EF4-FFF2-40B4-BE49-F238E27FC236}">
                <a16:creationId xmlns:a16="http://schemas.microsoft.com/office/drawing/2014/main" id="{B5C052D4-DAF5-4489-AA92-4CE0AFF8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86000"/>
            <a:ext cx="528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FCB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3" name="Shape 16">
            <a:extLst xmlns:a="http://schemas.openxmlformats.org/drawingml/2006/main">
              <a:ext uri="{FF2B5EF4-FFF2-40B4-BE49-F238E27FC236}">
                <a16:creationId xmlns:a16="http://schemas.microsoft.com/office/drawing/2014/main" id="{736C8356-E199-4D1E-94B4-FB7A79BF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253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4" name="Shape 17">
            <a:extLst xmlns:a="http://schemas.openxmlformats.org/drawingml/2006/main">
              <a:ext uri="{FF2B5EF4-FFF2-40B4-BE49-F238E27FC236}">
                <a16:creationId xmlns:a16="http://schemas.microsoft.com/office/drawing/2014/main" id="{4574F43F-8FF9-4879-B2B5-E0D8F7E7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286000"/>
            <a:ext cx="12701" cy="2257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55" name="Text 18">
            <a:extLst xmlns:a="http://schemas.openxmlformats.org/drawingml/2006/main">
              <a:ext uri="{FF2B5EF4-FFF2-40B4-BE49-F238E27FC236}">
                <a16:creationId xmlns:a16="http://schemas.microsoft.com/office/drawing/2014/main" id="{71315B5A-5758-467C-9F51-35FC1A48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43175"/>
            <a:ext cx="5207318" cy="3557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162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700" b="1">
                <a:solidFill>
                  <a:srgbClr val="00AFCB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Migra a AWS</a:t>
            </a:r>
          </a:p>
        </p:txBody>
      </p:sp>
      <p:sp>
        <p:nvSpPr>
          <p:cNvPr id="56" name="Text 19">
            <a:extLst xmlns:a="http://schemas.openxmlformats.org/drawingml/2006/main">
              <a:ext uri="{FF2B5EF4-FFF2-40B4-BE49-F238E27FC236}">
                <a16:creationId xmlns:a16="http://schemas.microsoft.com/office/drawing/2014/main" id="{BC621CDF-746E-43DB-9641-4394F630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9824"/>
            <a:ext cx="5207318" cy="23142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174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000">
                <a:solidFill>
                  <a:srgbClr val="7F7F7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plataforma analítica</a:t>
            </a:r>
          </a:p>
        </p:txBody>
      </p:sp>
      <p:sp>
        <p:nvSpPr>
          <p:cNvPr id="57" name="Text 20">
            <a:extLst xmlns:a="http://schemas.openxmlformats.org/drawingml/2006/main">
              <a:ext uri="{FF2B5EF4-FFF2-40B4-BE49-F238E27FC236}">
                <a16:creationId xmlns:a16="http://schemas.microsoft.com/office/drawing/2014/main" id="{17D6569F-20B2-4E8A-9F3F-53386973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669" y="3225551"/>
            <a:ext cx="4916806" cy="111799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AppFlow y S3 Landing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ETL en EC2 Auto Scaling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S3 Curated y RDS PostgreSQL</a:t>
            </a:r>
          </a:p>
          <a:p xmlns:a="http://schemas.openxmlformats.org/drawingml/2006/main">
            <a:pPr>
              <a:lnSpc>
                <a:spcPct val="135000"/>
              </a:lnSpc>
              <a:buNone/>
              <a:defRPr sz="1200">
                <a:solidFill>
                  <a:srgbClr val="111111"/>
                </a:solidFill>
                <a:latin typeface="Chivo"/>
                <a:ea typeface="Chivo"/>
                <a:cs typeface="Chivo"/>
              </a:defRPr>
            </a:pPr>
            <a:r>
              <a:t>consumo privado y Power BI Gateway</a:t>
            </a:r>
          </a:p>
        </p:txBody>
      </p:sp>
      <p:sp>
        <p:nvSpPr>
          <p:cNvPr id="58" name="Text 21">
            <a:extLst xmlns:a="http://schemas.openxmlformats.org/drawingml/2006/main">
              <a:ext uri="{FF2B5EF4-FFF2-40B4-BE49-F238E27FC236}">
                <a16:creationId xmlns:a16="http://schemas.microsoft.com/office/drawing/2014/main" id="{C81C013F-49DE-4501-9B77-DD66948B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2458FF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59" name="Text 22">
            <a:extLst xmlns:a="http://schemas.openxmlformats.org/drawingml/2006/main">
              <a:ext uri="{FF2B5EF4-FFF2-40B4-BE49-F238E27FC236}">
                <a16:creationId xmlns:a16="http://schemas.microsoft.com/office/drawing/2014/main" id="{DC680408-5E38-40B5-BB02-D861CFB0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5810250"/>
            <a:ext cx="10389584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8366" lnSpcReduction="0"/>
          </a:bodyPr>
          <a:lstStyle xmlns:a="http://schemas.openxmlformats.org/drawingml/2006/main">
            <a:lvl1pPr defTabSz="905255">
              <a:lnSpc>
                <a:spcPct val="120000"/>
              </a:lnSpc>
              <a:buNone/>
              <a:defRPr sz="1485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SAP BW queda fuera del flujo. La demostración usa datos sintéticos: ningún registro productivo sale del entorno SAP.</a:t>
            </a:r>
          </a:p>
        </p:txBody>
      </p:sp>
      <p:sp>
        <p:nvSpPr>
          <p:cNvPr id="60" name="Text 24">
            <a:extLst xmlns:a="http://schemas.openxmlformats.org/drawingml/2006/main">
              <a:ext uri="{FF2B5EF4-FFF2-40B4-BE49-F238E27FC236}">
                <a16:creationId xmlns:a16="http://schemas.microsoft.com/office/drawing/2014/main" id="{1FC4D20B-1641-4FBA-A9DE-CD5CBBE1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3371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alcance</a:t>
            </a:r>
          </a:p>
        </p:txBody>
      </p:sp>
      <p:sp>
        <p:nvSpPr>
          <p:cNvPr id="61" name="Text 25">
            <a:extLst xmlns:a="http://schemas.openxmlformats.org/drawingml/2006/main">
              <a:ext uri="{FF2B5EF4-FFF2-40B4-BE49-F238E27FC236}">
                <a16:creationId xmlns:a16="http://schemas.microsoft.com/office/drawing/2014/main" id="{9012CE86-B0EB-4A48-B02E-D4E5A5D7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1992276309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809a14d0eb4b88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297076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27efeafca14b94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FINAL/DIMENSIONAMIENTO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CAPACIDAD BASE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 guían la prueba; el tamaño real se mide.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VOLUMEN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45 millones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CO-PA · crecimiento 20 %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Carga inicial estimada en 45–54 GiB. Prueba sintética mínima: 4,5 millones de filas antes de producción.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PROCESAMIENTO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 → 4 workers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EC2 m6i.large · Auto Scaling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Un worker continuo; expansión temporal para carga inicial y picos. Delta de AppFlow cada hora.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DATOS PRIVADOS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100 → 200 GiB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db.m6g.large · Multi-AZ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gp3, backups 14 días, KMS y Secrets Manager. S3 inicia con 100 GiB y proyecta 200 GiB.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RDS no tiene endpoint público; Power BI consume mediante gateway y TLS, nunca con una conexión directa desde Internet.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recursos y seguridad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55ec4a96c4d40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FINAL/CRONOGRAMA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42047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PLAN DE MIGRACIÓN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42047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Camino crítico: SAP, red, OData, AppFlow y conciliación.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SEMANAS 1–3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Preparar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alcance · red · Terraform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Aprobar responsables y accesos; validar VPN, seguridad y desplegar la infraestructura reproducible.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SEMANAS 4–7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Probar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funcional · volumen · recuperación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Ensayar carga y deltas, medir 10 % del volumen, restaurar RDS y obtener aceptación del usuario.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SEMANAS 8–10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Cortar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delta final · hypercare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Conciliar, habilitar primero al piloto y estabilizar cinco días. La plataforma anterior queda en consulta.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No-Go si la diferencia no explicada supera 0,1 %, el delta se detiene dos horas o falla una consulta crítica.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cronograma y corte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Shape 0">
            <a:extLst xmlns:a="http://schemas.openxmlformats.org/drawingml/2006/main">
              <a:ext uri="{FF2B5EF4-FFF2-40B4-BE49-F238E27FC236}">
                <a16:creationId xmlns:a16="http://schemas.microsoft.com/office/drawing/2014/main" id="{05CF4547-6E91-426B-B763-7C797D67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10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2f72d52014a86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5" name="Text 1">
            <a:extLst xmlns:a="http://schemas.openxmlformats.org/drawingml/2006/main">
              <a:ext uri="{FF2B5EF4-FFF2-40B4-BE49-F238E27FC236}">
                <a16:creationId xmlns:a16="http://schemas.microsoft.com/office/drawing/2014/main" id="{42A3D1CE-EA54-4D8F-AE4D-EDF1A911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66" name="Text 2">
            <a:extLst xmlns:a="http://schemas.openxmlformats.org/drawingml/2006/main">
              <a:ext uri="{FF2B5EF4-FFF2-40B4-BE49-F238E27FC236}">
                <a16:creationId xmlns:a16="http://schemas.microsoft.com/office/drawing/2014/main" id="{D02C5FCC-5F0E-49A8-8A27-2467CC0D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3421634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FINAL/COSTOS</a:t>
            </a:r>
          </a:p>
        </p:txBody>
      </p:sp>
      <p:sp>
        <p:nvSpPr>
          <p:cNvPr id="67" name="Text 3">
            <a:extLst xmlns:a="http://schemas.openxmlformats.org/drawingml/2006/main">
              <a:ext uri="{FF2B5EF4-FFF2-40B4-BE49-F238E27FC236}">
                <a16:creationId xmlns:a16="http://schemas.microsoft.com/office/drawing/2014/main" id="{45E8D9B0-8C48-4011-A10E-4F7BDBFA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11249025" cy="37802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885" lnSpcReduction="0"/>
          </a:bodyPr>
          <a:lstStyle xmlns:a="http://schemas.openxmlformats.org/drawingml/2006/main">
            <a:lvl1pPr defTabSz="822959">
              <a:lnSpc>
                <a:spcPct val="104999"/>
              </a:lnSpc>
              <a:buNone/>
              <a:defRPr sz="2250" b="1" spc="-90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780/MES</a:t>
            </a:r>
          </a:p>
        </p:txBody>
      </p:sp>
      <p:sp>
        <p:nvSpPr>
          <p:cNvPr id="68" name="Text 4">
            <a:extLst xmlns:a="http://schemas.openxmlformats.org/drawingml/2006/main">
              <a:ext uri="{FF2B5EF4-FFF2-40B4-BE49-F238E27FC236}">
                <a16:creationId xmlns:a16="http://schemas.microsoft.com/office/drawing/2014/main" id="{83A1FD99-D6D7-4BAC-BFCB-F5F6A7CA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638300"/>
            <a:ext cx="11249025" cy="2437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165" lnSpcReduction="0"/>
          </a:bodyPr>
          <a:lstStyle xmlns:a="http://schemas.openxmlformats.org/drawingml/2006/main">
            <a:lvl1pPr>
              <a:lnSpc>
                <a:spcPct val="135000"/>
              </a:lnSpc>
              <a:buNone/>
              <a:defRPr sz="12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Calculator 700,04 + VPN 36,50 + PrivateLink 43,90</a:t>
            </a:r>
          </a:p>
        </p:txBody>
      </p:sp>
      <p:sp>
        <p:nvSpPr>
          <p:cNvPr id="69" name="Shape 5">
            <a:extLst xmlns:a="http://schemas.openxmlformats.org/drawingml/2006/main">
              <a:ext uri="{FF2B5EF4-FFF2-40B4-BE49-F238E27FC236}">
                <a16:creationId xmlns:a16="http://schemas.microsoft.com/office/drawing/2014/main" id="{75B4CB08-4F1F-49A2-B4A3-3B53FE7A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0" name="Shape 6">
            <a:extLst xmlns:a="http://schemas.openxmlformats.org/drawingml/2006/main">
              <a:ext uri="{FF2B5EF4-FFF2-40B4-BE49-F238E27FC236}">
                <a16:creationId xmlns:a16="http://schemas.microsoft.com/office/drawing/2014/main" id="{F1A0726F-9101-4F21-AD17-632613BC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1" name="Shape 7">
            <a:extLst xmlns:a="http://schemas.openxmlformats.org/drawingml/2006/main">
              <a:ext uri="{FF2B5EF4-FFF2-40B4-BE49-F238E27FC236}">
                <a16:creationId xmlns:a16="http://schemas.microsoft.com/office/drawing/2014/main" id="{E86D821E-A24C-4D9B-8088-03FF6B7A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2" name="Shape 8">
            <a:extLst xmlns:a="http://schemas.openxmlformats.org/drawingml/2006/main">
              <a:ext uri="{FF2B5EF4-FFF2-40B4-BE49-F238E27FC236}">
                <a16:creationId xmlns:a16="http://schemas.microsoft.com/office/drawing/2014/main" id="{C71B1CA9-2A24-425C-86EC-1D500D5E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3" name="Shape 9">
            <a:extLst xmlns:a="http://schemas.openxmlformats.org/drawingml/2006/main">
              <a:ext uri="{FF2B5EF4-FFF2-40B4-BE49-F238E27FC236}">
                <a16:creationId xmlns:a16="http://schemas.microsoft.com/office/drawing/2014/main" id="{92E3D705-D9DD-416A-B69A-63A627F1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3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4" name="Text 10">
            <a:extLst xmlns:a="http://schemas.openxmlformats.org/drawingml/2006/main">
              <a:ext uri="{FF2B5EF4-FFF2-40B4-BE49-F238E27FC236}">
                <a16:creationId xmlns:a16="http://schemas.microsoft.com/office/drawing/2014/main" id="{433FBC28-179C-43B3-BAAE-241CE67C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581275"/>
            <a:ext cx="3345762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01 · BASE PRODUCTIVA</a:t>
            </a:r>
          </a:p>
        </p:txBody>
      </p:sp>
      <p:sp>
        <p:nvSpPr>
          <p:cNvPr id="75" name="Text 11">
            <a:extLst xmlns:a="http://schemas.openxmlformats.org/drawingml/2006/main">
              <a:ext uri="{FF2B5EF4-FFF2-40B4-BE49-F238E27FC236}">
                <a16:creationId xmlns:a16="http://schemas.microsoft.com/office/drawing/2014/main" id="{3C051A1E-AD9E-4ACA-AD2B-7839BD18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2794546"/>
            <a:ext cx="3345762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780,44</a:t>
            </a:r>
          </a:p>
        </p:txBody>
      </p:sp>
      <p:sp>
        <p:nvSpPr>
          <p:cNvPr id="76" name="Text 12">
            <a:extLst xmlns:a="http://schemas.openxmlformats.org/drawingml/2006/main">
              <a:ext uri="{FF2B5EF4-FFF2-40B4-BE49-F238E27FC236}">
                <a16:creationId xmlns:a16="http://schemas.microsoft.com/office/drawing/2014/main" id="{DCB1A015-3BFD-468F-9557-22B6F42E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122563"/>
            <a:ext cx="3345762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mensual · USD 9.365,28 anual</a:t>
            </a:r>
          </a:p>
        </p:txBody>
      </p:sp>
      <p:sp>
        <p:nvSpPr>
          <p:cNvPr id="77" name="Text 13">
            <a:extLst xmlns:a="http://schemas.openxmlformats.org/drawingml/2006/main">
              <a:ext uri="{FF2B5EF4-FFF2-40B4-BE49-F238E27FC236}">
                <a16:creationId xmlns:a16="http://schemas.microsoft.com/office/drawing/2014/main" id="{A9B44E3D-331B-4D4B-AFC1-23D8EB59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4" y="3409503"/>
            <a:ext cx="3132850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Incluye ETL, RDS Multi-AZ, gateways Windows, VPN, PrivateLink, S3, AppFlow, KMS y monitoreo.</a:t>
            </a:r>
          </a:p>
        </p:txBody>
      </p:sp>
      <p:sp>
        <p:nvSpPr>
          <p:cNvPr id="78" name="Shape 14">
            <a:extLst xmlns:a="http://schemas.openxmlformats.org/drawingml/2006/main">
              <a:ext uri="{FF2B5EF4-FFF2-40B4-BE49-F238E27FC236}">
                <a16:creationId xmlns:a16="http://schemas.microsoft.com/office/drawing/2014/main" id="{ED6AF96D-1FBE-434B-AF19-D61FF3E4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79" name="Shape 15">
            <a:extLst xmlns:a="http://schemas.openxmlformats.org/drawingml/2006/main">
              <a:ext uri="{FF2B5EF4-FFF2-40B4-BE49-F238E27FC236}">
                <a16:creationId xmlns:a16="http://schemas.microsoft.com/office/drawing/2014/main" id="{3C021F92-8B30-4BB5-BCA0-583BE61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4390776"/>
            <a:ext cx="3479751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0" name="Shape 16">
            <a:extLst xmlns:a="http://schemas.openxmlformats.org/drawingml/2006/main">
              <a:ext uri="{FF2B5EF4-FFF2-40B4-BE49-F238E27FC236}">
                <a16:creationId xmlns:a16="http://schemas.microsoft.com/office/drawing/2014/main" id="{8120E713-AE59-490B-B94F-C0487FA8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400" y="2362200"/>
            <a:ext cx="3479751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1" name="Shape 17">
            <a:extLst xmlns:a="http://schemas.openxmlformats.org/drawingml/2006/main">
              <a:ext uri="{FF2B5EF4-FFF2-40B4-BE49-F238E27FC236}">
                <a16:creationId xmlns:a16="http://schemas.microsoft.com/office/drawing/2014/main" id="{D2D40BAD-9AC9-4E73-8252-F0D28486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7812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2" name="Shape 18">
            <a:extLst xmlns:a="http://schemas.openxmlformats.org/drawingml/2006/main">
              <a:ext uri="{FF2B5EF4-FFF2-40B4-BE49-F238E27FC236}">
                <a16:creationId xmlns:a16="http://schemas.microsoft.com/office/drawing/2014/main" id="{FF3929EA-F9E3-4304-89B4-0D8AB1C5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038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3" name="Text 19">
            <a:extLst xmlns:a="http://schemas.openxmlformats.org/drawingml/2006/main">
              <a:ext uri="{FF2B5EF4-FFF2-40B4-BE49-F238E27FC236}">
                <a16:creationId xmlns:a16="http://schemas.microsoft.com/office/drawing/2014/main" id="{41B2F6C7-6B7C-4BA5-93A4-6954C2BE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581275"/>
            <a:ext cx="3345761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02 · DÓNDE ESTÁ</a:t>
            </a:r>
          </a:p>
        </p:txBody>
      </p:sp>
      <p:sp>
        <p:nvSpPr>
          <p:cNvPr id="84" name="Text 20">
            <a:extLst xmlns:a="http://schemas.openxmlformats.org/drawingml/2006/main">
              <a:ext uri="{FF2B5EF4-FFF2-40B4-BE49-F238E27FC236}">
                <a16:creationId xmlns:a16="http://schemas.microsoft.com/office/drawing/2014/main" id="{4E9F0ECC-8604-4EA2-929B-6F57BE74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2794546"/>
            <a:ext cx="3345761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74,4 %</a:t>
            </a:r>
          </a:p>
        </p:txBody>
      </p:sp>
      <p:sp>
        <p:nvSpPr>
          <p:cNvPr id="85" name="Text 21">
            <a:extLst xmlns:a="http://schemas.openxmlformats.org/drawingml/2006/main">
              <a:ext uri="{FF2B5EF4-FFF2-40B4-BE49-F238E27FC236}">
                <a16:creationId xmlns:a16="http://schemas.microsoft.com/office/drawing/2014/main" id="{414927B8-C675-4149-84EE-C0ACD3FC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122563"/>
            <a:ext cx="3345761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RDS + Power BI Gateway</a:t>
            </a:r>
          </a:p>
        </p:txBody>
      </p:sp>
      <p:sp>
        <p:nvSpPr>
          <p:cNvPr id="86" name="Text 22">
            <a:extLst xmlns:a="http://schemas.openxmlformats.org/drawingml/2006/main">
              <a:ext uri="{FF2B5EF4-FFF2-40B4-BE49-F238E27FC236}">
                <a16:creationId xmlns:a16="http://schemas.microsoft.com/office/drawing/2014/main" id="{3B58F969-C831-4BA1-B1B7-9A604B9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475" y="3409503"/>
            <a:ext cx="3132849" cy="81141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>
              <a:lnSpc>
                <a:spcPct val="140000"/>
              </a:lnSpc>
              <a:buNone/>
              <a:defRPr sz="10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La disponibilidad domina el presupuesto; AppFlow y S3 representan una porción menor del total.</a:t>
            </a:r>
          </a:p>
        </p:txBody>
      </p:sp>
      <p:sp>
        <p:nvSpPr>
          <p:cNvPr id="87" name="Shape 23">
            <a:extLst xmlns:a="http://schemas.openxmlformats.org/drawingml/2006/main">
              <a:ext uri="{FF2B5EF4-FFF2-40B4-BE49-F238E27FC236}">
                <a16:creationId xmlns:a16="http://schemas.microsoft.com/office/drawing/2014/main" id="{1474210D-D3AB-4490-B451-CC853FCD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900" cy="2039690"/>
          </a:xfrm>
          <a:prstGeom xmlns:a="http://schemas.openxmlformats.org/drawingml/2006/main" prst="roundRect">
            <a:avLst>
              <a:gd name="adj" fmla="val 56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8" name="Shape 24">
            <a:extLst xmlns:a="http://schemas.openxmlformats.org/drawingml/2006/main">
              <a:ext uri="{FF2B5EF4-FFF2-40B4-BE49-F238E27FC236}">
                <a16:creationId xmlns:a16="http://schemas.microsoft.com/office/drawing/2014/main" id="{35E91ED4-5C75-4412-937B-1428853A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4390776"/>
            <a:ext cx="3479899" cy="1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89" name="Shape 25">
            <a:extLst xmlns:a="http://schemas.openxmlformats.org/drawingml/2006/main">
              <a:ext uri="{FF2B5EF4-FFF2-40B4-BE49-F238E27FC236}">
                <a16:creationId xmlns:a16="http://schemas.microsoft.com/office/drawing/2014/main" id="{6631DA86-2AEB-4E87-B73C-B845A0AE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600" y="2362200"/>
            <a:ext cx="3479899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7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0" name="Shape 26">
            <a:extLst xmlns:a="http://schemas.openxmlformats.org/drawingml/2006/main">
              <a:ext uri="{FF2B5EF4-FFF2-40B4-BE49-F238E27FC236}">
                <a16:creationId xmlns:a16="http://schemas.microsoft.com/office/drawing/2014/main" id="{7877D938-39E2-446A-9795-83298EA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013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1" name="Shape 27">
            <a:extLst xmlns:a="http://schemas.openxmlformats.org/drawingml/2006/main">
              <a:ext uri="{FF2B5EF4-FFF2-40B4-BE49-F238E27FC236}">
                <a16:creationId xmlns:a16="http://schemas.microsoft.com/office/drawing/2014/main" id="{1CBFBBBD-F9D3-40E8-8EC4-0A569653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9387" y="2362200"/>
            <a:ext cx="12701" cy="20396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92" name="Text 28">
            <a:extLst xmlns:a="http://schemas.openxmlformats.org/drawingml/2006/main">
              <a:ext uri="{FF2B5EF4-FFF2-40B4-BE49-F238E27FC236}">
                <a16:creationId xmlns:a16="http://schemas.microsoft.com/office/drawing/2014/main" id="{8AC4F6A7-86B0-4A0E-ADF4-0E24EC6D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581275"/>
            <a:ext cx="3345925" cy="2037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69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7F7F7F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03 · ALTERNATIVA</a:t>
            </a:r>
          </a:p>
        </p:txBody>
      </p:sp>
      <p:sp>
        <p:nvSpPr>
          <p:cNvPr id="93" name="Text 29">
            <a:extLst xmlns:a="http://schemas.openxmlformats.org/drawingml/2006/main">
              <a:ext uri="{FF2B5EF4-FFF2-40B4-BE49-F238E27FC236}">
                <a16:creationId xmlns:a16="http://schemas.microsoft.com/office/drawing/2014/main" id="{2353F3DF-92E0-4822-8B9C-1633E72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2794546"/>
            <a:ext cx="3345925" cy="32801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008C7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USD 497,96</a:t>
            </a:r>
          </a:p>
        </p:txBody>
      </p:sp>
      <p:sp>
        <p:nvSpPr>
          <p:cNvPr id="94" name="Text 30">
            <a:extLst xmlns:a="http://schemas.openxmlformats.org/drawingml/2006/main">
              <a:ext uri="{FF2B5EF4-FFF2-40B4-BE49-F238E27FC236}">
                <a16:creationId xmlns:a16="http://schemas.microsoft.com/office/drawing/2014/main" id="{96CA47DC-CBC0-46BF-AF1F-38A24601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122563"/>
            <a:ext cx="3345925" cy="21074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0420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900">
                <a:solidFill>
                  <a:srgbClr val="666666"/>
                </a:solidFill>
                <a:latin typeface="ITBA Mono"/>
                <a:ea typeface="ITBA Mono"/>
                <a:cs typeface="ITBA Mono"/>
              </a:defRPr>
            </a:lvl1pPr>
          </a:lstStyle>
          <a:p xmlns:a="http://schemas.openxmlformats.org/drawingml/2006/main">
            <a:pPr>
              <a:buNone/>
            </a:pPr>
            <a:r>
              <a:t>gateway corporativo existente</a:t>
            </a:r>
          </a:p>
        </p:txBody>
      </p:sp>
      <p:sp>
        <p:nvSpPr>
          <p:cNvPr id="95" name="Text 31">
            <a:extLst xmlns:a="http://schemas.openxmlformats.org/drawingml/2006/main">
              <a:ext uri="{FF2B5EF4-FFF2-40B4-BE49-F238E27FC236}">
                <a16:creationId xmlns:a16="http://schemas.microsoft.com/office/drawing/2014/main" id="{D5C7E454-0C08-4311-9732-982A57D2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675" y="3409503"/>
            <a:ext cx="3133003" cy="61808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100000" lnSpcReduction="0"/>
          </a:bodyPr>
          <a:lstStyle xmlns:a="http://schemas.openxmlformats.org/drawingml/2006/main">
            <a:lvl1pPr defTabSz="886968">
              <a:lnSpc>
                <a:spcPct val="140000"/>
              </a:lnSpc>
              <a:buNone/>
              <a:defRPr sz="97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Reduce el gasto AWS, pero traslada capacidad y operación a infraestructura Windows on-premise.</a:t>
            </a:r>
          </a:p>
        </p:txBody>
      </p:sp>
      <p:sp>
        <p:nvSpPr>
          <p:cNvPr id="96" name="Text 32">
            <a:extLst xmlns:a="http://schemas.openxmlformats.org/drawingml/2006/main">
              <a:ext uri="{FF2B5EF4-FFF2-40B4-BE49-F238E27FC236}">
                <a16:creationId xmlns:a16="http://schemas.microsoft.com/office/drawing/2014/main" id="{0C6C7028-0FE6-4210-BA62-374183C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97" name="Text 33">
            <a:extLst xmlns:a="http://schemas.openxmlformats.org/drawingml/2006/main">
              <a:ext uri="{FF2B5EF4-FFF2-40B4-BE49-F238E27FC236}">
                <a16:creationId xmlns:a16="http://schemas.microsoft.com/office/drawing/2014/main" id="{FC053267-4A59-477F-984C-5954CC71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4" y="5772150"/>
            <a:ext cx="11095675" cy="2825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4491" lnSpcReduction="0"/>
          </a:bodyPr>
          <a:lstStyle xmlns:a="http://schemas.openxmlformats.org/drawingml/2006/main">
            <a:lvl1pPr>
              <a:lnSpc>
                <a:spcPct val="120000"/>
              </a:lnSpc>
              <a:buNone/>
              <a:defRPr sz="1500" b="1">
                <a:solidFill>
                  <a:srgbClr val="111111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No se presupuestan descuentos antes de medir. Luego se evalúan reserva RDS, ETL programado y lifecycle S3.</a:t>
            </a:r>
          </a:p>
        </p:txBody>
      </p:sp>
      <p:sp>
        <p:nvSpPr>
          <p:cNvPr id="98" name="Text 35">
            <a:extLst xmlns:a="http://schemas.openxmlformats.org/drawingml/2006/main">
              <a:ext uri="{FF2B5EF4-FFF2-40B4-BE49-F238E27FC236}">
                <a16:creationId xmlns:a16="http://schemas.microsoft.com/office/drawing/2014/main" id="{6ED09EDA-85C8-4548-B604-F6F0A73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2350399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costos</a:t>
            </a:r>
          </a:p>
        </p:txBody>
      </p:sp>
      <p:sp>
        <p:nvSpPr>
          <p:cNvPr id="99" name="Text 36">
            <a:extLst xmlns:a="http://schemas.openxmlformats.org/drawingml/2006/main">
              <a:ext uri="{FF2B5EF4-FFF2-40B4-BE49-F238E27FC236}">
                <a16:creationId xmlns:a16="http://schemas.microsoft.com/office/drawing/2014/main" id="{29992971-7928-4213-812C-06D97EFF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666666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735820607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4" name="Shape 0">
            <a:extLst xmlns:a="http://schemas.openxmlformats.org/drawingml/2006/main">
              <a:ext uri="{FF2B5EF4-FFF2-40B4-BE49-F238E27FC236}">
                <a16:creationId xmlns:a16="http://schemas.microsoft.com/office/drawing/2014/main" id="{F33634A1-CCD5-4C1F-81A4-01322F6A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pic>
        <p:nvPicPr>
          <p:cNvPr id="32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b3ef73e524938"/>
          <a:srcRect xmlns:a="http://schemas.openxmlformats.org/drawingml/2006/main" l="19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1" cy="6858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06" name="Text 1">
            <a:extLst xmlns:a="http://schemas.openxmlformats.org/drawingml/2006/main">
              <a:ext uri="{FF2B5EF4-FFF2-40B4-BE49-F238E27FC236}">
                <a16:creationId xmlns:a16="http://schemas.microsoft.com/office/drawing/2014/main" id="{6EA44020-004B-4F91-AE15-1F28DC24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71525"/>
            <a:ext cx="173386" cy="20002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0748" lnSpcReduction="0"/>
          </a:bodyPr>
          <a:lstStyle xmlns:a="http://schemas.openxmlformats.org/drawingml/2006/main">
            <a:lvl1pPr defTabSz="822959">
              <a:buNone/>
              <a:defRPr sz="1079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07" name="Text 2">
            <a:extLst xmlns:a="http://schemas.openxmlformats.org/drawingml/2006/main">
              <a:ext uri="{FF2B5EF4-FFF2-40B4-BE49-F238E27FC236}">
                <a16:creationId xmlns:a16="http://schemas.microsoft.com/office/drawing/2014/main" id="{EF854649-E9B7-41F4-BE53-9690E5D5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34" y="762000"/>
            <a:ext cx="2779050" cy="245269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25400" tIns="25400" rIns="25400" bIns="25400">
            <a:normAutofit fontScale="8000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100" b="1" spc="100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FINAL/EVIDENCIA</a:t>
            </a:r>
          </a:p>
        </p:txBody>
      </p:sp>
      <p:sp>
        <p:nvSpPr>
          <p:cNvPr id="308" name="Text 3">
            <a:extLst xmlns:a="http://schemas.openxmlformats.org/drawingml/2006/main">
              <a:ext uri="{FF2B5EF4-FFF2-40B4-BE49-F238E27FC236}">
                <a16:creationId xmlns:a16="http://schemas.microsoft.com/office/drawing/2014/main" id="{7EA9DD95-F23D-47E2-8E87-81DA97C1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5815"/>
            <a:ext cx="3163919" cy="103822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759" lnSpcReduction="0"/>
          </a:bodyPr>
          <a:lstStyle xmlns:a="http://schemas.openxmlformats.org/drawingml/2006/main">
            <a:lvl1pPr defTabSz="804672">
              <a:lnSpc>
                <a:spcPct val="104999"/>
              </a:lnSpc>
              <a:buNone/>
              <a:defRPr sz="3256" b="1" spc="-88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LISTO PARA DEFENDER</a:t>
            </a:r>
          </a:p>
        </p:txBody>
      </p:sp>
      <p:sp>
        <p:nvSpPr>
          <p:cNvPr id="309" name="Text 5">
            <a:extLst xmlns:a="http://schemas.openxmlformats.org/drawingml/2006/main">
              <a:ext uri="{FF2B5EF4-FFF2-40B4-BE49-F238E27FC236}">
                <a16:creationId xmlns:a16="http://schemas.microsoft.com/office/drawing/2014/main" id="{E07CEA80-8EC6-4286-9818-FE2D06A8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1685925"/>
            <a:ext cx="371475" cy="25717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1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0" name="Text 6">
            <a:extLst xmlns:a="http://schemas.openxmlformats.org/drawingml/2006/main">
              <a:ext uri="{FF2B5EF4-FFF2-40B4-BE49-F238E27FC236}">
                <a16:creationId xmlns:a16="http://schemas.microsoft.com/office/drawing/2014/main" id="{F38A7B3B-9B57-4F5B-928B-E0F29497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76400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5 servicios AWS materializados en LocalStack</a:t>
            </a:r>
          </a:p>
        </p:txBody>
      </p:sp>
      <p:sp>
        <p:nvSpPr>
          <p:cNvPr id="311" name="Text 7">
            <a:extLst xmlns:a="http://schemas.openxmlformats.org/drawingml/2006/main">
              <a:ext uri="{FF2B5EF4-FFF2-40B4-BE49-F238E27FC236}">
                <a16:creationId xmlns:a16="http://schemas.microsoft.com/office/drawing/2014/main" id="{A19E6719-E898-4B53-B7E2-65ADBB52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193577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2" name="Text 8">
            <a:extLst xmlns:a="http://schemas.openxmlformats.org/drawingml/2006/main">
              <a:ext uri="{FF2B5EF4-FFF2-40B4-BE49-F238E27FC236}">
                <a16:creationId xmlns:a16="http://schemas.microsoft.com/office/drawing/2014/main" id="{C0BF63FF-90F9-4B4F-A141-B08F394E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4052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13 controles aprobados · 0 advertencias</a:t>
            </a:r>
          </a:p>
        </p:txBody>
      </p:sp>
      <p:sp>
        <p:nvSpPr>
          <p:cNvPr id="313" name="Text 9">
            <a:extLst xmlns:a="http://schemas.openxmlformats.org/drawingml/2006/main">
              <a:ext uri="{FF2B5EF4-FFF2-40B4-BE49-F238E27FC236}">
                <a16:creationId xmlns:a16="http://schemas.microsoft.com/office/drawing/2014/main" id="{63162C38-7CCD-4009-847A-8BB02726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701230"/>
            <a:ext cx="371475" cy="25717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9572" lnSpcReduction="0"/>
          </a:bodyPr>
          <a:lstStyle xmlns:a="http://schemas.openxmlformats.org/drawingml/2006/main">
            <a:lvl1pPr defTabSz="731520">
              <a:buNone/>
              <a:defRPr sz="136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4" name="Text 10">
            <a:extLst xmlns:a="http://schemas.openxmlformats.org/drawingml/2006/main">
              <a:ext uri="{FF2B5EF4-FFF2-40B4-BE49-F238E27FC236}">
                <a16:creationId xmlns:a16="http://schemas.microsoft.com/office/drawing/2014/main" id="{F6944613-DF9A-4149-857B-67245FE8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91705"/>
            <a:ext cx="5563554" cy="27905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1014" lnSpcReduction="0"/>
          </a:bodyPr>
          <a:lstStyle xmlns:a="http://schemas.openxmlformats.org/drawingml/2006/main">
            <a:lvl1pPr defTabSz="804672">
              <a:lnSpc>
                <a:spcPct val="110000"/>
              </a:lnSpc>
              <a:buNone/>
              <a:defRPr sz="1496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13 pruebas · Terraform 1.5.7 válido</a:t>
            </a:r>
          </a:p>
        </p:txBody>
      </p:sp>
      <p:sp>
        <p:nvSpPr>
          <p:cNvPr id="315" name="Text 13">
            <a:extLst xmlns:a="http://schemas.openxmlformats.org/drawingml/2006/main">
              <a:ext uri="{FF2B5EF4-FFF2-40B4-BE49-F238E27FC236}">
                <a16:creationId xmlns:a16="http://schemas.microsoft.com/office/drawing/2014/main" id="{34CE6505-1AE9-432D-98F0-AD31B3A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810125"/>
            <a:ext cx="371475" cy="32801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83633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1500" b="1">
                <a:solidFill>
                  <a:srgbClr val="FFCB2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&gt;</a:t>
            </a:r>
          </a:p>
        </p:txBody>
      </p:sp>
      <p:sp>
        <p:nvSpPr>
          <p:cNvPr id="316" name="Text 14">
            <a:extLst xmlns:a="http://schemas.openxmlformats.org/drawingml/2006/main">
              <a:ext uri="{FF2B5EF4-FFF2-40B4-BE49-F238E27FC236}">
                <a16:creationId xmlns:a16="http://schemas.microsoft.com/office/drawing/2014/main" id="{984DC0B5-A938-4282-A649-DA7E2EE1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829175"/>
            <a:ext cx="5042726" cy="51792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94602" lnSpcReduction="0"/>
          </a:bodyPr>
          <a:lstStyle xmlns:a="http://schemas.openxmlformats.org/drawingml/2006/main">
            <a:lvl1pPr defTabSz="822959">
              <a:lnSpc>
                <a:spcPct val="120000"/>
              </a:lnSpc>
              <a:buNone/>
              <a:defRPr sz="1350" b="1">
                <a:solidFill>
                  <a:srgbClr val="F5F5F5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Próxima decisión: validar el EntitySet CO-PA OData en SAP antes del piloto productivo.</a:t>
            </a:r>
          </a:p>
        </p:txBody>
      </p:sp>
      <p:sp>
        <p:nvSpPr>
          <p:cNvPr id="317" name="Text 15">
            <a:extLst xmlns:a="http://schemas.openxmlformats.org/drawingml/2006/main">
              <a:ext uri="{FF2B5EF4-FFF2-40B4-BE49-F238E27FC236}">
                <a16:creationId xmlns:a16="http://schemas.microsoft.com/office/drawing/2014/main" id="{8A19A08C-155F-43CB-B2FD-A5D240C1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8544"/>
            <a:ext cx="1208188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Proyecto Final · cierre</a:t>
            </a:r>
          </a:p>
        </p:txBody>
      </p:sp>
      <p:sp>
        <p:nvSpPr>
          <p:cNvPr id="318" name="Text 16">
            <a:extLst xmlns:a="http://schemas.openxmlformats.org/drawingml/2006/main">
              <a:ext uri="{FF2B5EF4-FFF2-40B4-BE49-F238E27FC236}">
                <a16:creationId xmlns:a16="http://schemas.microsoft.com/office/drawing/2014/main" id="{3450E16D-BA86-48EE-9C91-E6AAD590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8159" y="6458544"/>
            <a:ext cx="274291" cy="18990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25400" tIns="25400" rIns="25400" bIns="25400">
            <a:normAutofit fontScale="78687" lnSpcReduction="0"/>
          </a:bodyPr>
          <a:lstStyle xmlns:a="http://schemas.openxmlformats.org/drawingml/2006/main">
            <a:lvl1pPr>
              <a:lnSpc>
                <a:spcPct val="145000"/>
              </a:lnSpc>
              <a:buNone/>
              <a:defRPr sz="800">
                <a:solidFill>
                  <a:srgbClr val="D8D8D8"/>
                </a:solidFill>
                <a:latin typeface="Chivo"/>
                <a:ea typeface="Chivo"/>
                <a:cs typeface="Chivo"/>
              </a:defRPr>
            </a:lvl1pPr>
          </a:lstStyle>
          <a:p xmlns:a="http://schemas.openxmlformats.org/drawingml/2006/main">
            <a:pPr>
              <a:buNone/>
            </a:pPr>
            <a: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180114476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2026-08-18T20:57:16.3360000Z</dcterms:created>
  <dcterms:modified xsi:type="dcterms:W3CDTF">2026-08-18T20:57:16.3360000Z</dcterms:modified>
</coreProperties>
</file>